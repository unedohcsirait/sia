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75B4FDA-31DA-419A-8547-0AC61FDF44B0}" type="datetimeFigureOut">
              <a:rPr lang="en-US" smtClean="0"/>
              <a:pPr/>
              <a:t>1/16/2014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559EC83-C48D-4519-9C28-40237235D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5"/>
          <p:cNvSpPr>
            <a:spLocks noChangeArrowheads="1" noChangeShapeType="1" noTextEdit="1"/>
          </p:cNvSpPr>
          <p:nvPr/>
        </p:nvSpPr>
        <p:spPr bwMode="auto">
          <a:xfrm>
            <a:off x="609600" y="457200"/>
            <a:ext cx="79248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Front"/>
              <a:lightRig rig="legacyNormal3" dir="b"/>
            </a:scene3d>
            <a:sp3d extrusionH="36500" prstMaterial="legacyPlastic">
              <a:extrusionClr>
                <a:schemeClr val="hlink"/>
              </a:extrusionClr>
            </a:sp3d>
          </a:bodyPr>
          <a:lstStyle/>
          <a:p>
            <a:pPr algn="ctr"/>
            <a:r>
              <a:rPr lang="en-US" sz="3600" b="1" kern="10" spc="-180" dirty="0" err="1">
                <a:ln w="9525">
                  <a:round/>
                  <a:headEnd/>
                  <a:tailEnd/>
                </a:ln>
                <a:solidFill>
                  <a:schemeClr val="bg1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t>Mengaktifkan</a:t>
            </a:r>
            <a:r>
              <a:rPr lang="en-US" sz="3600" b="1" kern="10" spc="-180" dirty="0">
                <a:ln w="9525">
                  <a:round/>
                  <a:headEnd/>
                  <a:tailEnd/>
                </a:ln>
                <a:solidFill>
                  <a:schemeClr val="bg1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t> &amp; </a:t>
            </a:r>
            <a:r>
              <a:rPr lang="en-US" sz="3600" b="1" kern="10" spc="-180" dirty="0" err="1">
                <a:ln w="9525">
                  <a:round/>
                  <a:headEnd/>
                  <a:tailEnd/>
                </a:ln>
                <a:solidFill>
                  <a:schemeClr val="bg1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t>Mematikan</a:t>
            </a:r>
            <a:endParaRPr lang="en-US" sz="3600" b="1" kern="10" spc="-180" dirty="0">
              <a:ln w="9525">
                <a:round/>
                <a:headEnd/>
                <a:tailEnd/>
              </a:ln>
              <a:solidFill>
                <a:schemeClr val="bg1">
                  <a:lumMod val="10000"/>
                  <a:lumOff val="9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" name="WordArt 22"/>
          <p:cNvSpPr>
            <a:spLocks noChangeArrowheads="1" noChangeShapeType="1" noTextEdit="1"/>
          </p:cNvSpPr>
          <p:nvPr/>
        </p:nvSpPr>
        <p:spPr bwMode="auto">
          <a:xfrm>
            <a:off x="1600200" y="1600200"/>
            <a:ext cx="5761037" cy="6445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Front"/>
              <a:lightRig rig="legacyNormal3" dir="b"/>
            </a:scene3d>
            <a:sp3d extrusionH="36500" prstMaterial="legacyPlastic">
              <a:extrusionClr>
                <a:schemeClr val="hlink"/>
              </a:extrusionClr>
            </a:sp3d>
          </a:bodyPr>
          <a:lstStyle/>
          <a:p>
            <a:pPr algn="ctr"/>
            <a:r>
              <a:rPr lang="en-US" sz="3600" b="1" kern="10" spc="-180" dirty="0" err="1" smtClean="0">
                <a:ln w="9525">
                  <a:round/>
                  <a:headEnd/>
                  <a:tailEnd/>
                </a:ln>
                <a:solidFill>
                  <a:schemeClr val="bg1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t>Komputer</a:t>
            </a:r>
            <a:endParaRPr lang="en-US" sz="3600" b="1" kern="10" spc="-180" dirty="0">
              <a:ln w="9525">
                <a:round/>
                <a:headEnd/>
                <a:tailEnd/>
              </a:ln>
              <a:solidFill>
                <a:schemeClr val="bg1">
                  <a:lumMod val="10000"/>
                  <a:lumOff val="9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7" name="Picture 25" descr="hpdeskto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199" y="2819400"/>
            <a:ext cx="4026189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10"/>
          <p:cNvSpPr txBox="1">
            <a:spLocks/>
          </p:cNvSpPr>
          <p:nvPr/>
        </p:nvSpPr>
        <p:spPr>
          <a:xfrm>
            <a:off x="5029200" y="4786313"/>
            <a:ext cx="3900488" cy="1339850"/>
          </a:xfrm>
          <a:prstGeom prst="rect">
            <a:avLst/>
          </a:prstGeom>
        </p:spPr>
        <p:txBody>
          <a:bodyPr lIns="45720" rIns="246888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10000"/>
                  <a:lumOff val="90000"/>
                </a:schemeClr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Content Placeholder 10"/>
          <p:cNvSpPr txBox="1">
            <a:spLocks/>
          </p:cNvSpPr>
          <p:nvPr/>
        </p:nvSpPr>
        <p:spPr>
          <a:xfrm>
            <a:off x="4114800" y="6248400"/>
            <a:ext cx="4800600" cy="381000"/>
          </a:xfrm>
          <a:prstGeom prst="rect">
            <a:avLst/>
          </a:prstGeom>
        </p:spPr>
        <p:txBody>
          <a:bodyPr lIns="45720" rIns="246888">
            <a:normAutofit fontScale="70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10000"/>
                  <a:lumOff val="90000"/>
                </a:schemeClr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Content Placeholder 10"/>
          <p:cNvSpPr txBox="1">
            <a:spLocks/>
          </p:cNvSpPr>
          <p:nvPr/>
        </p:nvSpPr>
        <p:spPr>
          <a:xfrm>
            <a:off x="2209800" y="2362200"/>
            <a:ext cx="4800600" cy="381000"/>
          </a:xfrm>
          <a:prstGeom prst="rect">
            <a:avLst/>
          </a:prstGeom>
        </p:spPr>
        <p:txBody>
          <a:bodyPr lIns="45720" rIns="246888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10000"/>
                  <a:lumOff val="90000"/>
                </a:schemeClr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/>
          <p:cNvSpPr>
            <a:spLocks noGrp="1"/>
          </p:cNvSpPr>
          <p:nvPr>
            <p:ph type="title"/>
          </p:nvPr>
        </p:nvSpPr>
        <p:spPr>
          <a:xfrm>
            <a:off x="457200" y="228601"/>
            <a:ext cx="8305800" cy="1219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kern="10" dirty="0" smtClean="0">
                <a:ln w="9525">
                  <a:round/>
                  <a:headEnd/>
                  <a:tailEnd/>
                </a:ln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SK DAN KD</a:t>
            </a:r>
            <a:endParaRPr lang="en-US" b="1" dirty="0">
              <a:solidFill>
                <a:schemeClr val="bg1">
                  <a:lumMod val="10000"/>
                  <a:lumOff val="9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3400" y="1824038"/>
            <a:ext cx="8305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tabLst>
                <a:tab pos="444500" algn="l"/>
              </a:tabLst>
            </a:pPr>
            <a:r>
              <a:rPr lang="en-US" sz="32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Standar</a:t>
            </a:r>
            <a:r>
              <a:rPr lang="en-US" sz="32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Kompetensi</a:t>
            </a:r>
            <a:endParaRPr lang="en-US" sz="3200" b="1" dirty="0">
              <a:solidFill>
                <a:schemeClr val="bg1">
                  <a:lumMod val="10000"/>
                  <a:lumOff val="9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None/>
              <a:tabLst>
                <a:tab pos="444500" algn="l"/>
              </a:tabLst>
            </a:pP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1.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Melakukan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operasi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dasar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komputer</a:t>
            </a:r>
            <a:endParaRPr lang="en-US" sz="2400" b="1" dirty="0">
              <a:solidFill>
                <a:schemeClr val="bg1">
                  <a:lumMod val="10000"/>
                  <a:lumOff val="9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3395663"/>
            <a:ext cx="82296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tabLst>
                <a:tab pos="444500" algn="l"/>
              </a:tabLst>
              <a:defRPr/>
            </a:pPr>
            <a:r>
              <a:rPr lang="en-US" sz="32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Kompetensi</a:t>
            </a:r>
            <a:r>
              <a:rPr lang="en-US" sz="32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Dasar</a:t>
            </a:r>
            <a:endParaRPr lang="en-US" sz="3200" b="1" dirty="0">
              <a:solidFill>
                <a:schemeClr val="bg1">
                  <a:lumMod val="10000"/>
                  <a:lumOff val="9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1.1</a:t>
            </a:r>
            <a:r>
              <a:rPr lang="en-US" sz="2800" b="1" dirty="0" smtClean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. 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Mengaktifkan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dan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mematikan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komputer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sesuai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dengan</a:t>
            </a:r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alibri" pitchFamily="34" charset="0"/>
                <a:cs typeface="Calibri" pitchFamily="34" charset="0"/>
              </a:rPr>
              <a:t>prosedur</a:t>
            </a:r>
            <a:endParaRPr lang="en-US" sz="2400" b="1" dirty="0">
              <a:solidFill>
                <a:schemeClr val="bg1">
                  <a:lumMod val="10000"/>
                  <a:lumOff val="9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21040" cy="1137689"/>
          </a:xfrm>
        </p:spPr>
        <p:txBody>
          <a:bodyPr/>
          <a:lstStyle/>
          <a:p>
            <a:r>
              <a:rPr lang="en-US" b="1" dirty="0" smtClean="0">
                <a:latin typeface="Calibri" pitchFamily="34" charset="0"/>
                <a:cs typeface="Calibri" pitchFamily="34" charset="0"/>
              </a:rPr>
              <a:t>INDIKATOR</a:t>
            </a:r>
          </a:p>
        </p:txBody>
      </p:sp>
      <p:sp>
        <p:nvSpPr>
          <p:cNvPr id="5" name="Content Placeholder 10"/>
          <p:cNvSpPr>
            <a:spLocks noGrp="1"/>
          </p:cNvSpPr>
          <p:nvPr>
            <p:ph idx="1"/>
          </p:nvPr>
        </p:nvSpPr>
        <p:spPr>
          <a:xfrm>
            <a:off x="457200" y="1905000"/>
            <a:ext cx="8234363" cy="4276725"/>
          </a:xfrm>
        </p:spPr>
        <p:txBody>
          <a:bodyPr/>
          <a:lstStyle/>
          <a:p>
            <a:pPr>
              <a:tabLst>
                <a:tab pos="292100" algn="l"/>
              </a:tabLst>
            </a:pP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Menjelaskan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sejarah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perkembangan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komputer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dan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bagian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penting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yang ada di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setiap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PC </a:t>
            </a:r>
          </a:p>
          <a:p>
            <a:pPr>
              <a:tabLst>
                <a:tab pos="292100" algn="l"/>
              </a:tabLst>
            </a:pP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Mengaktifkan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Komputer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sesuai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prosedur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( cold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booting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dan warm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booting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tabLst>
                <a:tab pos="292100" algn="l"/>
              </a:tabLst>
            </a:pP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Mematikan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Komputer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Sesuai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Prosedur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pPr>
              <a:tabLst>
                <a:tab pos="292100" algn="l"/>
              </a:tabLst>
            </a:pPr>
            <a:endParaRPr lang="en-US" b="1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321040" cy="1000125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i="1" dirty="0" err="1" smtClean="0">
                <a:solidFill>
                  <a:srgbClr val="FF3300"/>
                </a:solidFill>
                <a:latin typeface="Arial Narrow" pitchFamily="34" charset="0"/>
              </a:rPr>
              <a:t>Sejarah</a:t>
            </a:r>
            <a:r>
              <a:rPr lang="en-US" b="1" i="1" dirty="0" smtClean="0">
                <a:solidFill>
                  <a:srgbClr val="FF3300"/>
                </a:solidFill>
                <a:latin typeface="Arial Narrow" pitchFamily="34" charset="0"/>
              </a:rPr>
              <a:t> </a:t>
            </a:r>
            <a:r>
              <a:rPr lang="en-US" b="1" i="1" dirty="0" err="1" smtClean="0">
                <a:solidFill>
                  <a:srgbClr val="FF3300"/>
                </a:solidFill>
                <a:latin typeface="Arial Narrow" pitchFamily="34" charset="0"/>
              </a:rPr>
              <a:t>perkembangan</a:t>
            </a:r>
            <a:r>
              <a:rPr lang="en-US" b="1" i="1" dirty="0" smtClean="0">
                <a:solidFill>
                  <a:srgbClr val="FF3300"/>
                </a:solidFill>
                <a:latin typeface="Arial Narrow" pitchFamily="34" charset="0"/>
              </a:rPr>
              <a:t> </a:t>
            </a:r>
            <a:r>
              <a:rPr lang="en-US" b="1" i="1" dirty="0" err="1" smtClean="0">
                <a:solidFill>
                  <a:srgbClr val="FF3300"/>
                </a:solidFill>
                <a:latin typeface="Arial Narrow" pitchFamily="34" charset="0"/>
              </a:rPr>
              <a:t>komputer</a:t>
            </a:r>
            <a:endParaRPr lang="en-US" b="1" i="1" dirty="0" smtClean="0">
              <a:solidFill>
                <a:srgbClr val="FF3300"/>
              </a:solidFill>
              <a:latin typeface="Arial Narrow" pitchFamily="34" charset="0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idx="1"/>
          </p:nvPr>
        </p:nvSpPr>
        <p:spPr>
          <a:xfrm>
            <a:off x="528637" y="1666875"/>
            <a:ext cx="8234363" cy="4697413"/>
          </a:xfrm>
        </p:spPr>
        <p:txBody>
          <a:bodyPr/>
          <a:lstStyle/>
          <a:p>
            <a:pPr algn="just" eaLnBrk="1" hangingPunct="1"/>
            <a:r>
              <a:rPr lang="en-US" b="1" dirty="0" err="1" smtClean="0">
                <a:latin typeface="Arial Narrow" pitchFamily="34" charset="0"/>
              </a:rPr>
              <a:t>Kata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komputer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berasal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dari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bahasa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latin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Arial Narrow" pitchFamily="34" charset="0"/>
              </a:rPr>
              <a:t>computare</a:t>
            </a:r>
            <a:r>
              <a:rPr lang="en-US" b="1" dirty="0" smtClean="0">
                <a:latin typeface="Arial Narrow" pitchFamily="34" charset="0"/>
              </a:rPr>
              <a:t> yang </a:t>
            </a:r>
            <a:r>
              <a:rPr lang="en-US" b="1" dirty="0" err="1" smtClean="0">
                <a:latin typeface="Arial Narrow" pitchFamily="34" charset="0"/>
              </a:rPr>
              <a:t>berarti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menghitung</a:t>
            </a:r>
            <a:r>
              <a:rPr lang="en-US" b="1" dirty="0" smtClean="0">
                <a:latin typeface="Arial Narrow" pitchFamily="34" charset="0"/>
              </a:rPr>
              <a:t>. </a:t>
            </a:r>
          </a:p>
          <a:p>
            <a:pPr algn="just" eaLnBrk="1" hangingPunct="1"/>
            <a:r>
              <a:rPr lang="en-US" b="1" dirty="0" err="1" smtClean="0">
                <a:latin typeface="Arial Narrow" pitchFamily="34" charset="0"/>
              </a:rPr>
              <a:t>Kata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itu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kemudian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menjadi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bahasa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Inggris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 Narrow" pitchFamily="34" charset="0"/>
              </a:rPr>
              <a:t>to compute </a:t>
            </a:r>
            <a:r>
              <a:rPr lang="en-US" b="1" dirty="0" smtClean="0">
                <a:latin typeface="Arial Narrow" pitchFamily="34" charset="0"/>
              </a:rPr>
              <a:t>yang </a:t>
            </a:r>
            <a:r>
              <a:rPr lang="en-US" b="1" dirty="0" err="1" smtClean="0">
                <a:latin typeface="Arial Narrow" pitchFamily="34" charset="0"/>
              </a:rPr>
              <a:t>juga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berarti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menghitung</a:t>
            </a:r>
            <a:r>
              <a:rPr lang="en-US" b="1" dirty="0" smtClean="0">
                <a:latin typeface="Arial Narrow" pitchFamily="34" charset="0"/>
              </a:rPr>
              <a:t>. </a:t>
            </a:r>
          </a:p>
          <a:p>
            <a:pPr algn="just" eaLnBrk="1" hangingPunct="1"/>
            <a:r>
              <a:rPr lang="en-US" b="1" dirty="0" err="1" smtClean="0">
                <a:latin typeface="Arial Narrow" pitchFamily="34" charset="0"/>
              </a:rPr>
              <a:t>Menilik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asal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katanya</a:t>
            </a:r>
            <a:r>
              <a:rPr lang="en-US" b="1" dirty="0" smtClean="0">
                <a:latin typeface="Arial Narrow" pitchFamily="34" charset="0"/>
              </a:rPr>
              <a:t>, </a:t>
            </a:r>
            <a:r>
              <a:rPr lang="en-US" b="1" dirty="0" err="1" smtClean="0">
                <a:latin typeface="Arial Narrow" pitchFamily="34" charset="0"/>
              </a:rPr>
              <a:t>maka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fungsi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dasar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komputer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adalah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sebagai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alat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b="1" dirty="0" err="1" smtClean="0">
                <a:latin typeface="Arial Narrow" pitchFamily="34" charset="0"/>
              </a:rPr>
              <a:t>hitung</a:t>
            </a:r>
            <a:r>
              <a:rPr lang="en-US" b="1" dirty="0" smtClean="0">
                <a:latin typeface="Arial Narrow" pitchFamily="34" charset="0"/>
              </a:rPr>
              <a:t>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57200" y="381000"/>
            <a:ext cx="8321040" cy="1000125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Setiap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PC (Personal Computer)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terdiri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dari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bagian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penting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,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diantaranya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</a:t>
            </a:r>
            <a:endParaRPr kumimoji="0" lang="en-US" sz="46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itchFamily="34" charset="0"/>
              <a:ea typeface="+mj-ea"/>
              <a:cs typeface="Calibri" pitchFamily="34" charset="0"/>
            </a:endParaRP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528637" y="1666875"/>
            <a:ext cx="8234363" cy="4697413"/>
          </a:xfrm>
          <a:prstGeom prst="rect">
            <a:avLst/>
          </a:prstGeom>
        </p:spPr>
        <p:txBody>
          <a:bodyPr/>
          <a:lstStyle/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CPU ( Central Processing Unit)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Monitor /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Layar</a:t>
            </a:r>
            <a:endParaRPr lang="en-US" sz="3000" b="1" dirty="0" smtClean="0">
              <a:latin typeface="Calibri" pitchFamily="34" charset="0"/>
              <a:cs typeface="Calibri" pitchFamily="34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Keyboard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Mouse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Printer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Sound  </a:t>
            </a: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57200" y="381000"/>
            <a:ext cx="8321040" cy="1000125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Komponen</a:t>
            </a:r>
            <a:r>
              <a:rPr kumimoji="0" lang="en-US" sz="4600" b="1" i="1" u="none" strike="noStrike" kern="1200" cap="none" spc="0" normalizeH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 yang </a:t>
            </a:r>
            <a:r>
              <a:rPr kumimoji="0" lang="en-US" sz="4600" b="1" i="1" u="none" strike="noStrike" kern="1200" cap="none" spc="0" normalizeH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dibutuhkan</a:t>
            </a:r>
            <a:r>
              <a:rPr kumimoji="0" lang="en-US" sz="4600" b="1" i="1" u="none" strike="noStrike" kern="1200" cap="none" spc="0" normalizeH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kumimoji="0" lang="en-US" sz="4600" b="1" i="1" u="none" strike="noStrike" kern="1200" cap="none" spc="0" normalizeH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dalam</a:t>
            </a:r>
            <a:r>
              <a:rPr kumimoji="0" lang="en-US" sz="4600" b="1" i="1" u="none" strike="noStrike" kern="1200" cap="none" spc="0" normalizeH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kumimoji="0" lang="en-US" sz="4600" b="1" i="1" u="none" strike="noStrike" kern="1200" cap="none" spc="0" normalizeH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mengaktifkan</a:t>
            </a:r>
            <a:r>
              <a:rPr kumimoji="0" lang="en-US" sz="4600" b="1" i="1" u="none" strike="noStrike" kern="1200" cap="none" spc="0" normalizeH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kumimoji="0" lang="en-US" sz="4600" b="1" i="1" u="none" strike="noStrike" kern="1200" cap="none" spc="0" normalizeH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komputer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/booting,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yaitu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:</a:t>
            </a:r>
            <a:endParaRPr kumimoji="0" lang="en-US" sz="46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itchFamily="34" charset="0"/>
              <a:ea typeface="+mj-ea"/>
              <a:cs typeface="Calibri" pitchFamily="34" charset="0"/>
            </a:endParaRP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528637" y="1666875"/>
            <a:ext cx="8234363" cy="4697413"/>
          </a:xfrm>
          <a:prstGeom prst="rect">
            <a:avLst/>
          </a:prstGeom>
        </p:spPr>
        <p:txBody>
          <a:bodyPr/>
          <a:lstStyle/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Hardware (</a:t>
            </a:r>
            <a:r>
              <a:rPr lang="en-US" sz="3000" dirty="0" err="1">
                <a:latin typeface="Calibri" pitchFamily="34" charset="0"/>
                <a:cs typeface="Calibri" pitchFamily="34" charset="0"/>
              </a:rPr>
              <a:t>P</a:t>
            </a: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erangkat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  <a:cs typeface="Calibri" pitchFamily="34" charset="0"/>
              </a:rPr>
              <a:t>K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eras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Komputer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)</a:t>
            </a: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lang="en-US" sz="3000" baseline="0" dirty="0" smtClean="0">
                <a:latin typeface="Calibri" pitchFamily="34" charset="0"/>
                <a:cs typeface="Calibri" pitchFamily="34" charset="0"/>
              </a:rPr>
              <a:t>Softw</a:t>
            </a:r>
            <a:r>
              <a:rPr lang="en-US" sz="3000" dirty="0" smtClean="0">
                <a:latin typeface="Calibri" pitchFamily="34" charset="0"/>
                <a:cs typeface="Calibri" pitchFamily="34" charset="0"/>
              </a:rPr>
              <a:t>are (</a:t>
            </a:r>
            <a:r>
              <a:rPr lang="en-US" sz="3000" dirty="0" err="1" smtClean="0">
                <a:latin typeface="Calibri" pitchFamily="34" charset="0"/>
                <a:cs typeface="Calibri" pitchFamily="34" charset="0"/>
              </a:rPr>
              <a:t>Perangkat</a:t>
            </a:r>
            <a:r>
              <a:rPr lang="en-US" sz="3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dirty="0" err="1" smtClean="0">
                <a:latin typeface="Calibri" pitchFamily="34" charset="0"/>
                <a:cs typeface="Calibri" pitchFamily="34" charset="0"/>
              </a:rPr>
              <a:t>Lunak</a:t>
            </a:r>
            <a:r>
              <a:rPr lang="en-US" sz="3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dirty="0" err="1" smtClean="0">
                <a:latin typeface="Calibri" pitchFamily="34" charset="0"/>
                <a:cs typeface="Calibri" pitchFamily="34" charset="0"/>
              </a:rPr>
              <a:t>Komputer</a:t>
            </a:r>
            <a:r>
              <a:rPr lang="en-US" sz="3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User (</a:t>
            </a: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Brainware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) /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Pengguna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Komputer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(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Perangkat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Insani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57200" y="381000"/>
            <a:ext cx="8321040" cy="1000125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Mengaktifkan</a:t>
            </a:r>
            <a:r>
              <a:rPr kumimoji="0" lang="en-US" sz="4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 </a:t>
            </a:r>
            <a:r>
              <a:rPr kumimoji="0" lang="en-US" sz="4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Komputer</a:t>
            </a:r>
            <a:r>
              <a:rPr kumimoji="0" lang="en-US" sz="4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 </a:t>
            </a:r>
            <a:r>
              <a:rPr kumimoji="0" lang="en-US" sz="4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Sesuai</a:t>
            </a:r>
            <a:r>
              <a:rPr kumimoji="0" lang="en-US" sz="4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 </a:t>
            </a:r>
            <a:r>
              <a:rPr kumimoji="0" lang="en-US" sz="4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Prosedur</a:t>
            </a:r>
            <a:endParaRPr kumimoji="0" lang="en-US" sz="46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 Narrow" pitchFamily="34" charset="0"/>
              <a:ea typeface="+mj-ea"/>
              <a:cs typeface="+mj-cs"/>
            </a:endParaRP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528637" y="1666875"/>
            <a:ext cx="8234363" cy="4697413"/>
          </a:xfrm>
          <a:prstGeom prst="rect">
            <a:avLst/>
          </a:prstGeom>
        </p:spPr>
        <p:txBody>
          <a:bodyPr/>
          <a:lstStyle/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Cold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Booting</a:t>
            </a:r>
          </a:p>
          <a:p>
            <a:pPr marL="877824" lvl="1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sz="3000" dirty="0" smtClean="0">
                <a:latin typeface="Arial Narrow" pitchFamily="34" charset="0"/>
              </a:rPr>
              <a:t>	Booting yang </a:t>
            </a:r>
            <a:r>
              <a:rPr lang="en-US" sz="3000" dirty="0" err="1" smtClean="0">
                <a:latin typeface="Arial Narrow" pitchFamily="34" charset="0"/>
              </a:rPr>
              <a:t>dilakukan</a:t>
            </a:r>
            <a:r>
              <a:rPr lang="en-US" sz="3000" dirty="0" smtClean="0">
                <a:latin typeface="Arial Narrow" pitchFamily="34" charset="0"/>
              </a:rPr>
              <a:t> </a:t>
            </a:r>
            <a:r>
              <a:rPr lang="en-US" sz="3000" dirty="0" err="1" smtClean="0">
                <a:latin typeface="Arial Narrow" pitchFamily="34" charset="0"/>
              </a:rPr>
              <a:t>saat</a:t>
            </a:r>
            <a:r>
              <a:rPr lang="en-US" sz="3000" dirty="0" smtClean="0">
                <a:latin typeface="Arial Narrow" pitchFamily="34" charset="0"/>
              </a:rPr>
              <a:t> </a:t>
            </a:r>
            <a:r>
              <a:rPr lang="en-US" sz="3000" dirty="0" err="1" smtClean="0">
                <a:latin typeface="Arial Narrow" pitchFamily="34" charset="0"/>
              </a:rPr>
              <a:t>komputer</a:t>
            </a:r>
            <a:r>
              <a:rPr lang="en-US" sz="3000" dirty="0" smtClean="0">
                <a:latin typeface="Arial Narrow" pitchFamily="34" charset="0"/>
              </a:rPr>
              <a:t> </a:t>
            </a:r>
            <a:r>
              <a:rPr lang="en-US" sz="3000" dirty="0" err="1" smtClean="0">
                <a:latin typeface="Arial Narrow" pitchFamily="34" charset="0"/>
              </a:rPr>
              <a:t>dalam</a:t>
            </a:r>
            <a:r>
              <a:rPr lang="en-US" sz="3000" dirty="0" smtClean="0">
                <a:latin typeface="Arial Narrow" pitchFamily="34" charset="0"/>
              </a:rPr>
              <a:t> </a:t>
            </a:r>
            <a:r>
              <a:rPr lang="en-US" sz="3000" dirty="0" err="1" smtClean="0">
                <a:latin typeface="Arial Narrow" pitchFamily="34" charset="0"/>
              </a:rPr>
              <a:t>keadaan</a:t>
            </a:r>
            <a:r>
              <a:rPr lang="en-US" sz="3000" dirty="0">
                <a:latin typeface="Arial Narrow" pitchFamily="34" charset="0"/>
              </a:rPr>
              <a:t> </a:t>
            </a:r>
            <a:r>
              <a:rPr lang="en-US" sz="3000" dirty="0" err="1" smtClean="0">
                <a:latin typeface="Arial Narrow" pitchFamily="34" charset="0"/>
              </a:rPr>
              <a:t>mati</a:t>
            </a:r>
            <a:r>
              <a:rPr lang="en-US" sz="3000" dirty="0" smtClean="0">
                <a:latin typeface="Arial Narrow" pitchFamily="34" charset="0"/>
              </a:rPr>
              <a:t>.</a:t>
            </a:r>
            <a:endParaRPr kumimoji="0" lang="en-US" sz="3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en-US" sz="3000" baseline="0" dirty="0" smtClean="0">
                <a:latin typeface="Arial Narrow" pitchFamily="34" charset="0"/>
              </a:rPr>
              <a:t>Warm</a:t>
            </a:r>
            <a:r>
              <a:rPr lang="en-US" sz="3000" dirty="0" smtClean="0">
                <a:latin typeface="Arial Narrow" pitchFamily="34" charset="0"/>
              </a:rPr>
              <a:t> Booting</a:t>
            </a:r>
          </a:p>
          <a:p>
            <a:pPr marL="877824" lvl="1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	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Booting yang </a:t>
            </a: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dilakukan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sejak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komputer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dalam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keadaan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hidup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.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57200" y="381000"/>
            <a:ext cx="8321040" cy="1000125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itchFamily="34" charset="0"/>
                <a:ea typeface="+mj-ea"/>
                <a:cs typeface="Calibri" pitchFamily="34" charset="0"/>
              </a:rPr>
              <a:t>Mematika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n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Komputer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lang="en-US" sz="4600" b="1" i="1" dirty="0" err="1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S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esuai</a:t>
            </a:r>
            <a:r>
              <a:rPr lang="en-US" sz="4600" b="1" i="1" dirty="0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lang="en-US" sz="4600" b="1" i="1" dirty="0" err="1" smtClean="0">
                <a:solidFill>
                  <a:srgbClr val="FF3300"/>
                </a:solidFill>
                <a:latin typeface="Calibri" pitchFamily="34" charset="0"/>
                <a:ea typeface="+mj-ea"/>
                <a:cs typeface="Calibri" pitchFamily="34" charset="0"/>
              </a:rPr>
              <a:t>Prosedur</a:t>
            </a:r>
            <a:endParaRPr kumimoji="0" lang="en-US" sz="46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itchFamily="34" charset="0"/>
              <a:ea typeface="+mj-ea"/>
              <a:cs typeface="Calibri" pitchFamily="34" charset="0"/>
            </a:endParaRP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528637" y="1666875"/>
            <a:ext cx="8234363" cy="4697413"/>
          </a:xfrm>
          <a:prstGeom prst="rect">
            <a:avLst/>
          </a:prstGeom>
        </p:spPr>
        <p:txBody>
          <a:bodyPr/>
          <a:lstStyle/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Windows 7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Klik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start menu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lalu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klik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Shut down.</a:t>
            </a: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Windows XP</a:t>
            </a: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sz="30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Klik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Start menu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lalu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klik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Turn Off Computer,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ada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tiga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pilihan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(Stand By, Turn off, Restart)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lalu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b="1" dirty="0" err="1" smtClean="0">
                <a:latin typeface="Calibri" pitchFamily="34" charset="0"/>
                <a:cs typeface="Calibri" pitchFamily="34" charset="0"/>
              </a:rPr>
              <a:t>klik</a:t>
            </a:r>
            <a:r>
              <a:rPr lang="en-US" sz="3000" b="1" dirty="0" smtClean="0">
                <a:latin typeface="Calibri" pitchFamily="34" charset="0"/>
                <a:cs typeface="Calibri" pitchFamily="34" charset="0"/>
              </a:rPr>
              <a:t> Turn Off</a:t>
            </a: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877824" lvl="1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57200"/>
            <a:ext cx="7772400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dirty="0" err="1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Referensi</a:t>
            </a:r>
            <a:endParaRPr lang="en-US" sz="5400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10425" y="1713782"/>
            <a:ext cx="7547775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400" dirty="0" err="1"/>
              <a:t>Buku</a:t>
            </a:r>
            <a:r>
              <a:rPr lang="en-US" sz="2400" dirty="0"/>
              <a:t> </a:t>
            </a:r>
            <a:r>
              <a:rPr lang="en-US" sz="2400" dirty="0" err="1"/>
              <a:t>Teknologi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Dan </a:t>
            </a:r>
            <a:r>
              <a:rPr lang="en-US" sz="2400" dirty="0" err="1"/>
              <a:t>Komunikasi</a:t>
            </a:r>
            <a:r>
              <a:rPr lang="en-US" sz="2400" dirty="0"/>
              <a:t> SMA </a:t>
            </a:r>
            <a:r>
              <a:rPr lang="en-US" sz="2400" dirty="0" err="1"/>
              <a:t>Kelas</a:t>
            </a:r>
            <a:r>
              <a:rPr lang="en-US" sz="2400" dirty="0"/>
              <a:t> XI, </a:t>
            </a:r>
            <a:r>
              <a:rPr lang="en-US" sz="2400" dirty="0" err="1"/>
              <a:t>Sadiman</a:t>
            </a:r>
            <a:r>
              <a:rPr lang="en-US" sz="2400" dirty="0"/>
              <a:t>, </a:t>
            </a:r>
            <a:r>
              <a:rPr lang="en-US" sz="2400" dirty="0" err="1"/>
              <a:t>Erlangga</a:t>
            </a:r>
            <a:endParaRPr lang="en-US" sz="2400" dirty="0"/>
          </a:p>
          <a:p>
            <a:pPr marL="342900" indent="-342900"/>
            <a:endParaRPr lang="en-US" sz="2400" dirty="0"/>
          </a:p>
          <a:p>
            <a:pPr marL="342900" indent="-342900">
              <a:buFontTx/>
              <a:buAutoNum type="arabicPeriod" startAt="2"/>
            </a:pPr>
            <a:r>
              <a:rPr lang="en-US" sz="2400" dirty="0" err="1"/>
              <a:t>Buku</a:t>
            </a:r>
            <a:r>
              <a:rPr lang="en-US" sz="2400" dirty="0"/>
              <a:t> </a:t>
            </a:r>
            <a:r>
              <a:rPr lang="en-US" sz="2400" dirty="0" err="1"/>
              <a:t>Teknologi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Dan </a:t>
            </a:r>
            <a:r>
              <a:rPr lang="en-US" sz="2400" dirty="0" err="1"/>
              <a:t>Komunikasi</a:t>
            </a:r>
            <a:r>
              <a:rPr lang="en-US" sz="2400" dirty="0"/>
              <a:t> SMA </a:t>
            </a:r>
            <a:r>
              <a:rPr lang="en-US" sz="2400" dirty="0" err="1"/>
              <a:t>Kelas</a:t>
            </a:r>
            <a:r>
              <a:rPr lang="en-US" sz="2400" dirty="0"/>
              <a:t> </a:t>
            </a:r>
            <a:r>
              <a:rPr lang="en-US" sz="2400" dirty="0" smtClean="0"/>
              <a:t>X,  </a:t>
            </a:r>
            <a:r>
              <a:rPr lang="en-US" sz="2400" dirty="0" err="1"/>
              <a:t>D</a:t>
            </a:r>
            <a:r>
              <a:rPr lang="en-US" sz="2400" dirty="0" err="1" smtClean="0"/>
              <a:t>esak</a:t>
            </a:r>
            <a:r>
              <a:rPr lang="en-US" sz="2400" dirty="0" smtClean="0"/>
              <a:t> </a:t>
            </a:r>
            <a:r>
              <a:rPr lang="en-US" sz="2400" dirty="0" err="1" smtClean="0"/>
              <a:t>Ketut</a:t>
            </a:r>
            <a:r>
              <a:rPr lang="en-US" sz="2400" dirty="0" smtClean="0"/>
              <a:t> Tri </a:t>
            </a:r>
            <a:r>
              <a:rPr lang="en-US" sz="2400" dirty="0" err="1" smtClean="0"/>
              <a:t>Wahyuni</a:t>
            </a:r>
            <a:r>
              <a:rPr lang="en-US" sz="2400" dirty="0" smtClean="0"/>
              <a:t>, </a:t>
            </a:r>
            <a:r>
              <a:rPr lang="en-US" sz="2400" dirty="0" err="1" smtClean="0"/>
              <a:t>S.Kom</a:t>
            </a:r>
            <a:r>
              <a:rPr lang="en-US" sz="2400" dirty="0" smtClean="0"/>
              <a:t> </a:t>
            </a:r>
            <a:r>
              <a:rPr lang="en-US" sz="2400" dirty="0" err="1" smtClean="0"/>
              <a:t>dkk</a:t>
            </a:r>
            <a:r>
              <a:rPr lang="en-US" sz="2400" dirty="0"/>
              <a:t>, </a:t>
            </a:r>
            <a:r>
              <a:rPr lang="en-US" sz="2400" dirty="0" err="1" smtClean="0"/>
              <a:t>Gapura</a:t>
            </a:r>
            <a:r>
              <a:rPr lang="en-US" sz="2400" dirty="0" smtClean="0"/>
              <a:t> 2011</a:t>
            </a:r>
          </a:p>
          <a:p>
            <a:pPr marL="342900" indent="-342900">
              <a:buFontTx/>
              <a:buAutoNum type="arabicPeriod" startAt="2"/>
            </a:pPr>
            <a:endParaRPr lang="en-US" sz="2400" dirty="0" smtClean="0"/>
          </a:p>
          <a:p>
            <a:pPr marL="342900" indent="-342900">
              <a:buFontTx/>
              <a:buAutoNum type="arabicPeriod" startAt="2"/>
            </a:pPr>
            <a:r>
              <a:rPr lang="en-US" sz="2000" dirty="0" smtClean="0"/>
              <a:t>http://www.psb-psma.org/bahanajar/presentasi/tik</a:t>
            </a:r>
          </a:p>
          <a:p>
            <a:pPr marL="342900" indent="-342900">
              <a:buFontTx/>
              <a:buAutoNum type="arabicPeriod" startAt="2"/>
            </a:pPr>
            <a:endParaRPr lang="en-US" sz="2000" dirty="0"/>
          </a:p>
          <a:p>
            <a:pPr marL="342900" indent="-342900">
              <a:buFontTx/>
              <a:buAutoNum type="arabicPeriod" startAt="2"/>
            </a:pPr>
            <a:endParaRPr lang="en-US" sz="2000" dirty="0"/>
          </a:p>
          <a:p>
            <a:pPr marL="342900" indent="-342900">
              <a:buFontTx/>
              <a:buAutoNum type="arabicPeriod" startAt="2"/>
            </a:pPr>
            <a:endParaRPr lang="en-US" sz="2000" dirty="0"/>
          </a:p>
          <a:p>
            <a:pPr marL="342900" indent="-342900">
              <a:buFontTx/>
              <a:buAutoNum type="arabicPeriod" startAt="2"/>
            </a:pPr>
            <a:endParaRPr lang="en-US" dirty="0"/>
          </a:p>
          <a:p>
            <a:pPr marL="342900" indent="-342900">
              <a:buFontTx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85800"/>
            <a:ext cx="815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 b="1" dirty="0" err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Penyusun</a:t>
            </a:r>
            <a:endParaRPr lang="en-US" sz="54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33400" y="2438400"/>
            <a:ext cx="8001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I </a:t>
            </a:r>
            <a:r>
              <a:rPr lang="en-US" sz="3200" dirty="0" err="1" smtClean="0"/>
              <a:t>Nyoman</a:t>
            </a:r>
            <a:r>
              <a:rPr lang="en-US" sz="3200" dirty="0" smtClean="0"/>
              <a:t> </a:t>
            </a:r>
            <a:r>
              <a:rPr lang="en-US" sz="3200" dirty="0" err="1" smtClean="0"/>
              <a:t>Artha</a:t>
            </a:r>
            <a:r>
              <a:rPr lang="en-US" sz="3200" dirty="0" smtClean="0"/>
              <a:t> </a:t>
            </a:r>
            <a:r>
              <a:rPr lang="en-US" sz="3200" dirty="0" err="1" smtClean="0"/>
              <a:t>Udiana</a:t>
            </a:r>
            <a:endParaRPr lang="en-US" sz="3200" dirty="0" smtClean="0"/>
          </a:p>
          <a:p>
            <a:pPr algn="ctr"/>
            <a:r>
              <a:rPr lang="en-US" sz="3200" dirty="0" smtClean="0"/>
              <a:t>conectaru@yahoo.co.id</a:t>
            </a:r>
            <a:endParaRPr lang="en-US" sz="32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5257800"/>
            <a:ext cx="73390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 smtClean="0"/>
              <a:t>www.sman1tampaksiring.sch.id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905000"/>
            <a:ext cx="8534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7824" lvl="1" indent="-384048" algn="ctr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6000" b="1" dirty="0" smtClean="0">
                <a:solidFill>
                  <a:schemeClr val="tx1">
                    <a:lumMod val="95000"/>
                  </a:schemeClr>
                </a:solidFill>
                <a:latin typeface="Brush Script MT" pitchFamily="66" charset="0"/>
              </a:rPr>
              <a:t>TERIMA </a:t>
            </a:r>
          </a:p>
          <a:p>
            <a:pPr marL="877824" lvl="1" indent="-384048" algn="ctr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6000" b="1" dirty="0" smtClean="0">
                <a:solidFill>
                  <a:schemeClr val="tx1">
                    <a:lumMod val="95000"/>
                  </a:schemeClr>
                </a:solidFill>
                <a:latin typeface="Brush Script MT" pitchFamily="66" charset="0"/>
              </a:rPr>
              <a:t>KASIH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107</TotalTime>
  <Words>199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Technic</vt:lpstr>
      <vt:lpstr>Slide 1</vt:lpstr>
      <vt:lpstr>SK DAN KD</vt:lpstr>
      <vt:lpstr>INDIKATOR</vt:lpstr>
      <vt:lpstr>Sejarah perkembangan komputer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Artha</dc:creator>
  <cp:lastModifiedBy>chalid</cp:lastModifiedBy>
  <cp:revision>8</cp:revision>
  <dcterms:created xsi:type="dcterms:W3CDTF">2011-10-01T11:38:01Z</dcterms:created>
  <dcterms:modified xsi:type="dcterms:W3CDTF">2014-01-15T18:25:58Z</dcterms:modified>
</cp:coreProperties>
</file>