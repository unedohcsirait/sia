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56BBA576-211F-4A61-8AB2-3D9AFDC6599B}" type="datetimeFigureOut">
              <a:rPr lang="en-US" smtClean="0"/>
              <a:pPr/>
              <a:t>1/16/2014</a:t>
            </a:fld>
            <a:endParaRPr lang="en-US"/>
          </a:p>
        </p:txBody>
      </p:sp>
      <p:sp>
        <p:nvSpPr>
          <p:cNvPr id="16" name="Slide Number Placeholder 15"/>
          <p:cNvSpPr>
            <a:spLocks noGrp="1"/>
          </p:cNvSpPr>
          <p:nvPr>
            <p:ph type="sldNum" sz="quarter" idx="11"/>
          </p:nvPr>
        </p:nvSpPr>
        <p:spPr/>
        <p:txBody>
          <a:bodyPr/>
          <a:lstStyle/>
          <a:p>
            <a:fld id="{CCF7C0A2-30FC-4959-8C01-BF8B43D5F9F6}" type="slidenum">
              <a:rPr lang="en-US" smtClean="0"/>
              <a:pPr/>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56BBA576-211F-4A61-8AB2-3D9AFDC6599B}" type="datetimeFigureOut">
              <a:rPr lang="en-US" smtClean="0"/>
              <a:pPr/>
              <a:t>1/16/2014</a:t>
            </a:fld>
            <a:endParaRPr lang="en-US"/>
          </a:p>
        </p:txBody>
      </p:sp>
      <p:sp>
        <p:nvSpPr>
          <p:cNvPr id="15" name="Slide Number Placeholder 14"/>
          <p:cNvSpPr>
            <a:spLocks noGrp="1"/>
          </p:cNvSpPr>
          <p:nvPr>
            <p:ph type="sldNum" sz="quarter" idx="15"/>
          </p:nvPr>
        </p:nvSpPr>
        <p:spPr/>
        <p:txBody>
          <a:bodyPr/>
          <a:lstStyle>
            <a:lvl1pPr algn="ctr">
              <a:defRPr/>
            </a:lvl1pPr>
          </a:lstStyle>
          <a:p>
            <a:fld id="{CCF7C0A2-30FC-4959-8C01-BF8B43D5F9F6}" type="slidenum">
              <a:rPr lang="en-US" smtClean="0"/>
              <a:pPr/>
              <a:t>‹#›</a:t>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6BBA576-211F-4A61-8AB2-3D9AFDC6599B}" type="datetimeFigureOut">
              <a:rPr lang="en-US" smtClean="0"/>
              <a:pPr/>
              <a:t>1/16/2014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7C0A2-30FC-4959-8C01-BF8B43D5F9F6}" type="slidenum">
              <a:rPr lang="en-US" smtClean="0"/>
              <a:pPr/>
              <a:t>‹#›</a:t>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6BBA576-211F-4A61-8AB2-3D9AFDC6599B}" type="datetimeFigureOut">
              <a:rPr lang="en-US" smtClean="0"/>
              <a:pPr/>
              <a:t>1/16/2014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F7C0A2-30FC-4959-8C01-BF8B43D5F9F6}"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CCF7C0A2-30FC-4959-8C01-BF8B43D5F9F6}" type="slidenum">
              <a:rPr lang="en-US" smtClean="0"/>
              <a:pPr/>
              <a:t>‹#›</a:t>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56BBA576-211F-4A61-8AB2-3D9AFDC6599B}" type="datetimeFigureOut">
              <a:rPr lang="en-US" smtClean="0"/>
              <a:pPr/>
              <a:t>1/16/2014</a:t>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6BBA576-211F-4A61-8AB2-3D9AFDC6599B}" type="datetimeFigureOut">
              <a:rPr lang="en-US" smtClean="0"/>
              <a:pPr/>
              <a:t>1/16/2014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F7C0A2-30FC-4959-8C01-BF8B43D5F9F6}"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BBA576-211F-4A61-8AB2-3D9AFDC6599B}" type="datetimeFigureOut">
              <a:rPr lang="en-US" smtClean="0"/>
              <a:pPr/>
              <a:t>1/16/2014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F7C0A2-30FC-4959-8C01-BF8B43D5F9F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56BBA576-211F-4A61-8AB2-3D9AFDC6599B}" type="datetimeFigureOut">
              <a:rPr lang="en-US" smtClean="0"/>
              <a:pPr/>
              <a:t>1/16/2014</a:t>
            </a:fld>
            <a:endParaRPr lang="en-US"/>
          </a:p>
        </p:txBody>
      </p:sp>
      <p:sp>
        <p:nvSpPr>
          <p:cNvPr id="9" name="Slide Number Placeholder 8"/>
          <p:cNvSpPr>
            <a:spLocks noGrp="1"/>
          </p:cNvSpPr>
          <p:nvPr>
            <p:ph type="sldNum" sz="quarter" idx="15"/>
          </p:nvPr>
        </p:nvSpPr>
        <p:spPr/>
        <p:txBody>
          <a:bodyPr/>
          <a:lstStyle/>
          <a:p>
            <a:fld id="{CCF7C0A2-30FC-4959-8C01-BF8B43D5F9F6}" type="slidenum">
              <a:rPr lang="en-US" smtClean="0"/>
              <a:pPr/>
              <a:t>‹#›</a:t>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56BBA576-211F-4A61-8AB2-3D9AFDC6599B}" type="datetimeFigureOut">
              <a:rPr lang="en-US" smtClean="0"/>
              <a:pPr/>
              <a:t>1/16/2014</a:t>
            </a:fld>
            <a:endParaRPr lang="en-US"/>
          </a:p>
        </p:txBody>
      </p:sp>
      <p:sp>
        <p:nvSpPr>
          <p:cNvPr id="9" name="Slide Number Placeholder 8"/>
          <p:cNvSpPr>
            <a:spLocks noGrp="1"/>
          </p:cNvSpPr>
          <p:nvPr>
            <p:ph type="sldNum" sz="quarter" idx="11"/>
          </p:nvPr>
        </p:nvSpPr>
        <p:spPr/>
        <p:txBody>
          <a:bodyPr/>
          <a:lstStyle/>
          <a:p>
            <a:fld id="{CCF7C0A2-30FC-4959-8C01-BF8B43D5F9F6}"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BBA576-211F-4A61-8AB2-3D9AFDC6599B}" type="datetimeFigureOut">
              <a:rPr lang="en-US" smtClean="0"/>
              <a:pPr/>
              <a:t>1/16/2014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7C0A2-30FC-4959-8C01-BF8B43D5F9F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BBA576-211F-4A61-8AB2-3D9AFDC6599B}" type="datetimeFigureOut">
              <a:rPr lang="en-US" smtClean="0"/>
              <a:pPr/>
              <a:t>1/16/2014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F7C0A2-30FC-4959-8C01-BF8B43D5F9F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56BBA576-211F-4A61-8AB2-3D9AFDC6599B}" type="datetimeFigureOut">
              <a:rPr lang="en-US" smtClean="0"/>
              <a:pPr/>
              <a:t>1/16/2014</a:t>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CCF7C0A2-30FC-4959-8C01-BF8B43D5F9F6}" type="slidenum">
              <a:rPr lang="en-US" smtClean="0"/>
              <a:pPr/>
              <a:t>‹#›</a:t>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19200" y="3886200"/>
            <a:ext cx="6629400" cy="1209588"/>
          </a:xfrm>
          <a:prstGeom prst="rect">
            <a:avLst/>
          </a:prstGeom>
          <a:ln w="6350" cap="rnd">
            <a:noFill/>
          </a:ln>
        </p:spPr>
        <p:txBody>
          <a:bodyPr vert="horz"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id-ID" sz="3200" b="0" i="0" u="none" strike="noStrike" kern="1200" cap="none" spc="-100" normalizeH="0" baseline="0" noProof="0" dirty="0">
              <a:ln w="3200">
                <a:solidFill>
                  <a:schemeClr val="bg2">
                    <a:shade val="75000"/>
                    <a:alpha val="25000"/>
                  </a:schemeClr>
                </a:solidFill>
                <a:prstDash val="solid"/>
                <a:round/>
              </a:ln>
              <a:solidFill>
                <a:srgbClr val="F9F9F9"/>
              </a:solidFill>
              <a:effectLst>
                <a:reflection blurRad="6350" stA="50000" endA="300" endPos="50000" dist="29997" dir="5400000" sy="-100000" algn="bl" rotWithShape="0"/>
              </a:effectLst>
              <a:uLnTx/>
              <a:uFillTx/>
              <a:latin typeface="+mj-lt"/>
              <a:ea typeface="+mj-ea"/>
              <a:cs typeface="+mj-cs"/>
            </a:endParaRPr>
          </a:p>
        </p:txBody>
      </p:sp>
      <p:sp>
        <p:nvSpPr>
          <p:cNvPr id="5" name="Rectangle 4"/>
          <p:cNvSpPr/>
          <p:nvPr/>
        </p:nvSpPr>
        <p:spPr>
          <a:xfrm>
            <a:off x="609600" y="533400"/>
            <a:ext cx="8077200" cy="156966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id-ID" sz="4800" b="1" dirty="0" smtClean="0">
                <a:ln w="11430"/>
                <a:solidFill>
                  <a:schemeClr val="tx2">
                    <a:lumMod val="75000"/>
                  </a:schemeClr>
                </a:solidFill>
                <a:effectLst>
                  <a:glow rad="228600">
                    <a:schemeClr val="accent2">
                      <a:satMod val="175000"/>
                      <a:alpha val="40000"/>
                    </a:schemeClr>
                  </a:glow>
                  <a:outerShdw blurRad="50800" dist="39000" dir="5460000" algn="tl">
                    <a:srgbClr val="000000">
                      <a:alpha val="38000"/>
                    </a:srgbClr>
                  </a:outerShdw>
                  <a:reflection blurRad="6350" stA="60000" endA="900" endPos="58000" dir="5400000" sy="-100000" algn="bl" rotWithShape="0"/>
                </a:effectLst>
              </a:rPr>
              <a:t>Teknologi Informasi &amp; </a:t>
            </a:r>
            <a:r>
              <a:rPr lang="id-ID" sz="4800" b="1" dirty="0" smtClean="0">
                <a:ln w="11430"/>
                <a:solidFill>
                  <a:schemeClr val="tx2">
                    <a:lumMod val="75000"/>
                  </a:schemeClr>
                </a:solidFill>
                <a:effectLst>
                  <a:glow rad="228600">
                    <a:schemeClr val="accent2">
                      <a:satMod val="175000"/>
                      <a:alpha val="40000"/>
                    </a:schemeClr>
                  </a:glow>
                  <a:outerShdw blurRad="50800" dist="39000" dir="5460000" algn="tl">
                    <a:srgbClr val="000000">
                      <a:alpha val="38000"/>
                    </a:srgbClr>
                  </a:outerShdw>
                  <a:reflection blurRad="6350" stA="60000" endA="900" endPos="58000" dir="5400000" sy="-100000" algn="bl" rotWithShape="0"/>
                </a:effectLst>
              </a:rPr>
              <a:t>Komunikasi</a:t>
            </a:r>
            <a:endParaRPr lang="id-ID" sz="4800" b="1" dirty="0" smtClean="0">
              <a:ln w="11430"/>
              <a:solidFill>
                <a:schemeClr val="tx2">
                  <a:lumMod val="75000"/>
                </a:schemeClr>
              </a:solidFill>
              <a:effectLst>
                <a:glow rad="228600">
                  <a:schemeClr val="accent2">
                    <a:satMod val="175000"/>
                    <a:alpha val="40000"/>
                  </a:schemeClr>
                </a:glow>
                <a:outerShdw blurRad="50800" dist="39000" dir="5460000" algn="tl">
                  <a:srgbClr val="000000">
                    <a:alpha val="38000"/>
                  </a:srgbClr>
                </a:outerShdw>
                <a:reflection blurRad="6350" stA="60000" endA="900" endPos="58000" dir="5400000" sy="-100000" algn="bl" rotWithShape="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2000"/>
                                        <p:tgtEl>
                                          <p:spTgt spid="5"/>
                                        </p:tgtEl>
                                      </p:cBhvr>
                                    </p:animEffect>
                                  </p:childTnLst>
                                </p:cTn>
                              </p:par>
                            </p:childTnLst>
                          </p:cTn>
                        </p:par>
                        <p:par>
                          <p:cTn id="8" fill="hold">
                            <p:stCondLst>
                              <p:cond delay="2000"/>
                            </p:stCondLst>
                            <p:childTnLst>
                              <p:par>
                                <p:cTn id="9" presetID="55"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strVal val="#ppt_w*0.70"/>
                                          </p:val>
                                        </p:tav>
                                        <p:tav tm="100000">
                                          <p:val>
                                            <p:strVal val="#ppt_w"/>
                                          </p:val>
                                        </p:tav>
                                      </p:tavLst>
                                    </p:anim>
                                    <p:anim calcmode="lin" valueType="num">
                                      <p:cBhvr>
                                        <p:cTn id="12" dur="1000" fill="hold"/>
                                        <p:tgtEl>
                                          <p:spTgt spid="4"/>
                                        </p:tgtEl>
                                        <p:attrNameLst>
                                          <p:attrName>ppt_h</p:attrName>
                                        </p:attrNameLst>
                                      </p:cBhvr>
                                      <p:tavLst>
                                        <p:tav tm="0">
                                          <p:val>
                                            <p:strVal val="#ppt_h"/>
                                          </p:val>
                                        </p:tav>
                                        <p:tav tm="100000">
                                          <p:val>
                                            <p:strVal val="#ppt_h"/>
                                          </p:val>
                                        </p:tav>
                                      </p:tavLst>
                                    </p:anim>
                                    <p:animEffect transition="in" filter="fade">
                                      <p:cBhvr>
                                        <p:cTn id="1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27256" y="1195351"/>
            <a:ext cx="4244744" cy="601619"/>
          </a:xfrm>
        </p:spPr>
        <p:txBody>
          <a:bodyPr>
            <a:normAutofit fontScale="90000"/>
          </a:bodyPr>
          <a:lstStyle/>
          <a:p>
            <a:r>
              <a:rPr lang="id-ID" dirty="0" smtClean="0"/>
              <a:t>Standar kompetensi &amp; Kompetensi dasar</a:t>
            </a:r>
            <a:endParaRPr lang="id-ID" dirty="0"/>
          </a:p>
        </p:txBody>
      </p:sp>
      <p:sp>
        <p:nvSpPr>
          <p:cNvPr id="5" name="Rectangle 4"/>
          <p:cNvSpPr/>
          <p:nvPr/>
        </p:nvSpPr>
        <p:spPr>
          <a:xfrm>
            <a:off x="533399" y="2590800"/>
            <a:ext cx="8000417" cy="1200329"/>
          </a:xfrm>
          <a:prstGeom prst="rect">
            <a:avLst/>
          </a:prstGeom>
        </p:spPr>
        <p:txBody>
          <a:bodyPr wrap="square">
            <a:spAutoFit/>
          </a:bodyPr>
          <a:lstStyle/>
          <a:p>
            <a:r>
              <a:rPr lang="id-ID" sz="2400" b="1" dirty="0" smtClean="0"/>
              <a:t>Standar Kompetensi : </a:t>
            </a:r>
          </a:p>
          <a:p>
            <a:r>
              <a:rPr lang="id-ID" sz="2400" b="1" dirty="0" smtClean="0"/>
              <a:t>	1. </a:t>
            </a:r>
            <a:r>
              <a:rPr lang="id-ID" sz="2400" dirty="0" smtClean="0"/>
              <a:t>Menggunakan </a:t>
            </a:r>
            <a:r>
              <a:rPr lang="id-ID" sz="2400" dirty="0"/>
              <a:t>internet untuk keperluan </a:t>
            </a:r>
            <a:r>
              <a:rPr lang="id-ID" sz="2400" dirty="0" smtClean="0"/>
              <a:t>informasi</a:t>
            </a:r>
          </a:p>
          <a:p>
            <a:r>
              <a:rPr lang="id-ID" sz="2400" dirty="0" smtClean="0"/>
              <a:t>	    </a:t>
            </a:r>
            <a:r>
              <a:rPr lang="id-ID" sz="2400" dirty="0"/>
              <a:t>dan </a:t>
            </a:r>
            <a:r>
              <a:rPr lang="id-ID" sz="2400" dirty="0" smtClean="0"/>
              <a:t>	komunikasi</a:t>
            </a:r>
            <a:endParaRPr lang="id-ID" sz="2400" dirty="0"/>
          </a:p>
        </p:txBody>
      </p:sp>
      <p:sp>
        <p:nvSpPr>
          <p:cNvPr id="6" name="Rectangle 5"/>
          <p:cNvSpPr/>
          <p:nvPr/>
        </p:nvSpPr>
        <p:spPr>
          <a:xfrm>
            <a:off x="749424" y="4607024"/>
            <a:ext cx="7928342" cy="1200329"/>
          </a:xfrm>
          <a:prstGeom prst="rect">
            <a:avLst/>
          </a:prstGeom>
        </p:spPr>
        <p:txBody>
          <a:bodyPr wrap="square">
            <a:spAutoFit/>
          </a:bodyPr>
          <a:lstStyle/>
          <a:p>
            <a:r>
              <a:rPr lang="id-ID" sz="2400" b="1" dirty="0" smtClean="0"/>
              <a:t>Kompetensi Dasar :</a:t>
            </a:r>
          </a:p>
          <a:p>
            <a:pPr>
              <a:tabLst>
                <a:tab pos="808038" algn="l"/>
              </a:tabLst>
            </a:pPr>
            <a:r>
              <a:rPr lang="id-ID" sz="2400" b="1" dirty="0" smtClean="0"/>
              <a:t>	1. 1. </a:t>
            </a:r>
            <a:r>
              <a:rPr lang="id-ID" sz="2400" dirty="0" smtClean="0"/>
              <a:t>Menjelaskan </a:t>
            </a:r>
            <a:r>
              <a:rPr lang="id-ID" sz="2400" dirty="0"/>
              <a:t>berbagai perangkat </a:t>
            </a:r>
            <a:r>
              <a:rPr lang="id-ID" sz="2400" dirty="0" smtClean="0"/>
              <a:t>keras</a:t>
            </a:r>
          </a:p>
          <a:p>
            <a:r>
              <a:rPr lang="id-ID" sz="2400" dirty="0" smtClean="0"/>
              <a:t>	       dan fungsinya untuk </a:t>
            </a:r>
            <a:r>
              <a:rPr lang="id-ID" sz="2400" dirty="0"/>
              <a:t>keperluan akses </a:t>
            </a:r>
            <a:r>
              <a:rPr lang="id-ID" sz="2400" dirty="0" smtClean="0"/>
              <a:t>Internet</a:t>
            </a:r>
            <a:endParaRPr lang="id-ID"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78764" y="750272"/>
            <a:ext cx="2874035" cy="360040"/>
          </a:xfrm>
        </p:spPr>
        <p:txBody>
          <a:bodyPr>
            <a:normAutofit fontScale="90000"/>
          </a:bodyPr>
          <a:lstStyle/>
          <a:p>
            <a:r>
              <a:rPr lang="id-ID" dirty="0" smtClean="0"/>
              <a:t>indikator</a:t>
            </a:r>
            <a:endParaRPr lang="id-ID" dirty="0"/>
          </a:p>
        </p:txBody>
      </p:sp>
      <p:sp>
        <p:nvSpPr>
          <p:cNvPr id="5" name="Rectangle 4"/>
          <p:cNvSpPr/>
          <p:nvPr/>
        </p:nvSpPr>
        <p:spPr>
          <a:xfrm>
            <a:off x="1295400" y="2937808"/>
            <a:ext cx="7272808" cy="1938992"/>
          </a:xfrm>
          <a:prstGeom prst="rect">
            <a:avLst/>
          </a:prstGeom>
        </p:spPr>
        <p:txBody>
          <a:bodyPr wrap="square">
            <a:spAutoFit/>
          </a:bodyPr>
          <a:lstStyle/>
          <a:p>
            <a:pPr marL="285750" indent="-285750">
              <a:buFont typeface="Arial" pitchFamily="34" charset="0"/>
              <a:buChar char="•"/>
            </a:pPr>
            <a:r>
              <a:rPr lang="id-ID" sz="2400" dirty="0"/>
              <a:t>Mengidentifikasi </a:t>
            </a:r>
            <a:r>
              <a:rPr lang="id-ID" sz="2400" dirty="0" smtClean="0"/>
              <a:t>perangkat keras untuk akses internet</a:t>
            </a:r>
          </a:p>
          <a:p>
            <a:endParaRPr lang="id-ID" sz="2400" dirty="0"/>
          </a:p>
          <a:p>
            <a:pPr marL="285750" indent="-285750">
              <a:buFont typeface="Arial" pitchFamily="34" charset="0"/>
              <a:buChar char="•"/>
            </a:pPr>
            <a:r>
              <a:rPr lang="id-ID" sz="2400" dirty="0"/>
              <a:t>Menjelaskan </a:t>
            </a:r>
            <a:r>
              <a:rPr lang="id-ID" sz="2400" dirty="0" smtClean="0"/>
              <a:t>fungsi perangkat keras untuk akses internet</a:t>
            </a:r>
          </a:p>
          <a:p>
            <a:endParaRPr lang="id-ID" sz="2400" dirty="0"/>
          </a:p>
        </p:txBody>
      </p:sp>
      <p:sp>
        <p:nvSpPr>
          <p:cNvPr id="6" name="TextBox 5"/>
          <p:cNvSpPr txBox="1"/>
          <p:nvPr/>
        </p:nvSpPr>
        <p:spPr>
          <a:xfrm>
            <a:off x="540893" y="1938407"/>
            <a:ext cx="2952328" cy="584775"/>
          </a:xfrm>
          <a:prstGeom prst="rect">
            <a:avLst/>
          </a:prstGeom>
          <a:noFill/>
        </p:spPr>
        <p:txBody>
          <a:bodyPr wrap="square" rtlCol="0">
            <a:spAutoFit/>
          </a:bodyPr>
          <a:lstStyle/>
          <a:p>
            <a:r>
              <a:rPr lang="id-ID" sz="3200" dirty="0" smtClean="0"/>
              <a:t>Siswa mampu :</a:t>
            </a:r>
            <a:endParaRPr lang="id-ID"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33408" y="729128"/>
            <a:ext cx="2485992" cy="360040"/>
          </a:xfrm>
        </p:spPr>
        <p:txBody>
          <a:bodyPr>
            <a:normAutofit fontScale="90000"/>
          </a:bodyPr>
          <a:lstStyle/>
          <a:p>
            <a:r>
              <a:rPr lang="id-ID" dirty="0" smtClean="0"/>
              <a:t>Materi</a:t>
            </a:r>
            <a:endParaRPr lang="id-ID" dirty="0"/>
          </a:p>
        </p:txBody>
      </p:sp>
      <p:sp>
        <p:nvSpPr>
          <p:cNvPr id="5" name="Rectangle 4"/>
          <p:cNvSpPr/>
          <p:nvPr/>
        </p:nvSpPr>
        <p:spPr>
          <a:xfrm>
            <a:off x="539552" y="1836544"/>
            <a:ext cx="7992888" cy="1338828"/>
          </a:xfrm>
          <a:prstGeom prst="rect">
            <a:avLst/>
          </a:prstGeom>
        </p:spPr>
        <p:txBody>
          <a:bodyPr wrap="square">
            <a:spAutoFit/>
          </a:bodyPr>
          <a:lstStyle/>
          <a:p>
            <a:pPr marL="274320" indent="-274320">
              <a:lnSpc>
                <a:spcPct val="150000"/>
              </a:lnSpc>
              <a:buClr>
                <a:schemeClr val="accent3"/>
              </a:buClr>
              <a:buFont typeface="Wingdings 2"/>
              <a:buChar char=""/>
              <a:defRPr/>
            </a:pPr>
            <a:r>
              <a:rPr lang="id-ID" dirty="0"/>
              <a:t>Internet atau Interconnected Network adalah  Jaringan tingkat global yang menghubungkan antara satu komputer dengan komputer lainnya yang berada  diseluruh dunia</a:t>
            </a:r>
            <a:r>
              <a:rPr lang="id-ID" dirty="0" smtClean="0"/>
              <a:t>.</a:t>
            </a:r>
            <a:endParaRPr lang="id-ID" dirty="0"/>
          </a:p>
        </p:txBody>
      </p:sp>
      <p:sp>
        <p:nvSpPr>
          <p:cNvPr id="6" name="Rectangle 5"/>
          <p:cNvSpPr/>
          <p:nvPr/>
        </p:nvSpPr>
        <p:spPr>
          <a:xfrm>
            <a:off x="323528" y="1332488"/>
            <a:ext cx="2850460" cy="461665"/>
          </a:xfrm>
          <a:prstGeom prst="rect">
            <a:avLst/>
          </a:prstGeom>
        </p:spPr>
        <p:txBody>
          <a:bodyPr wrap="none">
            <a:spAutoFit/>
          </a:bodyPr>
          <a:lstStyle/>
          <a:p>
            <a:r>
              <a:rPr lang="id-ID" sz="2400" b="1" dirty="0"/>
              <a:t>Pengertian Internet</a:t>
            </a:r>
          </a:p>
        </p:txBody>
      </p:sp>
      <p:sp>
        <p:nvSpPr>
          <p:cNvPr id="7" name="Rectangle 6"/>
          <p:cNvSpPr/>
          <p:nvPr/>
        </p:nvSpPr>
        <p:spPr>
          <a:xfrm>
            <a:off x="539552" y="3060680"/>
            <a:ext cx="5904656" cy="3416320"/>
          </a:xfrm>
          <a:prstGeom prst="rect">
            <a:avLst/>
          </a:prstGeom>
        </p:spPr>
        <p:txBody>
          <a:bodyPr wrap="square">
            <a:spAutoFit/>
          </a:bodyPr>
          <a:lstStyle/>
          <a:p>
            <a:pPr marL="274320" indent="-274320">
              <a:lnSpc>
                <a:spcPct val="150000"/>
              </a:lnSpc>
              <a:buClr>
                <a:schemeClr val="accent3"/>
              </a:buClr>
              <a:buFont typeface="Wingdings 2"/>
              <a:buChar char=""/>
              <a:defRPr/>
            </a:pPr>
            <a:r>
              <a:rPr lang="id-ID" dirty="0" smtClean="0"/>
              <a:t>Komputer dan jaringan yang terhubung dengan internet secara langsung atau tidak langsung  ke </a:t>
            </a:r>
            <a:r>
              <a:rPr lang="id-ID" b="1" i="1" dirty="0" smtClean="0"/>
              <a:t>internet backbone (</a:t>
            </a:r>
            <a:r>
              <a:rPr lang="id-ID" dirty="0" smtClean="0"/>
              <a:t>Jalur Utama) mempunyai nomor unik dengan alamat IP 32 bit</a:t>
            </a:r>
          </a:p>
          <a:p>
            <a:pPr marL="274320" indent="-274320">
              <a:lnSpc>
                <a:spcPct val="150000"/>
              </a:lnSpc>
              <a:buClr>
                <a:schemeClr val="accent3"/>
              </a:buClr>
              <a:buFont typeface="Wingdings 2"/>
              <a:buChar char=""/>
              <a:defRPr/>
            </a:pPr>
            <a:r>
              <a:rPr lang="id-ID" dirty="0" smtClean="0"/>
              <a:t>Komputer dengan sistem operasi yang berbeda dapat mengirim dan menerima informasi dengan prinsip dasar atau menggunakan sebuah protokol standar yang disebut TCP/IP(Transmision Control Protocol)</a:t>
            </a:r>
            <a:endParaRPr lang="id-ID" dirty="0"/>
          </a:p>
        </p:txBody>
      </p:sp>
      <p:pic>
        <p:nvPicPr>
          <p:cNvPr id="8" name="Picture 7" descr="Screen Clippi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660232" y="3032448"/>
            <a:ext cx="1790950" cy="28102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down)">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ircle(in)">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33408" y="609600"/>
            <a:ext cx="1644598" cy="360040"/>
          </a:xfrm>
        </p:spPr>
        <p:txBody>
          <a:bodyPr>
            <a:normAutofit fontScale="90000"/>
          </a:bodyPr>
          <a:lstStyle/>
          <a:p>
            <a:r>
              <a:rPr lang="id-ID" dirty="0" smtClean="0"/>
              <a:t>Materi</a:t>
            </a:r>
            <a:endParaRPr lang="id-ID" dirty="0"/>
          </a:p>
        </p:txBody>
      </p:sp>
      <p:sp>
        <p:nvSpPr>
          <p:cNvPr id="5" name="TextBox 4"/>
          <p:cNvSpPr txBox="1"/>
          <p:nvPr/>
        </p:nvSpPr>
        <p:spPr>
          <a:xfrm>
            <a:off x="3131840" y="3301192"/>
            <a:ext cx="5328592" cy="3000821"/>
          </a:xfrm>
          <a:prstGeom prst="rect">
            <a:avLst/>
          </a:prstGeom>
          <a:noFill/>
        </p:spPr>
        <p:txBody>
          <a:bodyPr wrap="square" rtlCol="0">
            <a:spAutoFit/>
          </a:bodyPr>
          <a:lstStyle/>
          <a:p>
            <a:pPr>
              <a:lnSpc>
                <a:spcPct val="150000"/>
              </a:lnSpc>
            </a:pPr>
            <a:r>
              <a:rPr lang="id-ID" dirty="0" smtClean="0"/>
              <a:t>Pada </a:t>
            </a:r>
            <a:r>
              <a:rPr lang="id-ID" dirty="0"/>
              <a:t>umumnya utk mengakses internet media yang digunakan melalui saluran telephone dikenal dengan </a:t>
            </a:r>
            <a:r>
              <a:rPr lang="id-ID" dirty="0" smtClean="0"/>
              <a:t>PPP(Point </a:t>
            </a:r>
            <a:r>
              <a:rPr lang="id-ID" dirty="0"/>
              <a:t>to point protocol), selain itu untuk tersambung jaringan internet pengguna harus mendaftar dahulu ke perusahaan yang memberikan layanan akses internet yang di sebut ISP (Internet Service </a:t>
            </a:r>
            <a:r>
              <a:rPr lang="id-ID" dirty="0" smtClean="0"/>
              <a:t>Provider)</a:t>
            </a:r>
          </a:p>
        </p:txBody>
      </p:sp>
      <p:pic>
        <p:nvPicPr>
          <p:cNvPr id="6" name="Picture 5" descr="D:\data\Fadil\sman3\bahan ajar\TIK\K3\images\h2.jpg"/>
          <p:cNvPicPr>
            <a:picLocks noChangeAspect="1" noChangeArrowheads="1"/>
          </p:cNvPicPr>
          <p:nvPr/>
        </p:nvPicPr>
        <p:blipFill>
          <a:blip r:embed="rId2" cstate="print"/>
          <a:srcRect/>
          <a:stretch>
            <a:fillRect/>
          </a:stretch>
        </p:blipFill>
        <p:spPr bwMode="auto">
          <a:xfrm>
            <a:off x="6588224" y="1428984"/>
            <a:ext cx="2088232" cy="172819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7" name="Rectangle 6"/>
          <p:cNvSpPr/>
          <p:nvPr/>
        </p:nvSpPr>
        <p:spPr>
          <a:xfrm>
            <a:off x="323528" y="1212960"/>
            <a:ext cx="6120680" cy="2160239"/>
          </a:xfrm>
          <a:prstGeom prst="rect">
            <a:avLst/>
          </a:prstGeom>
        </p:spPr>
        <p:txBody>
          <a:bodyPr wrap="square">
            <a:spAutoFit/>
          </a:bodyPr>
          <a:lstStyle/>
          <a:p>
            <a:pPr>
              <a:lnSpc>
                <a:spcPct val="150000"/>
              </a:lnSpc>
            </a:pPr>
            <a:r>
              <a:rPr lang="id-ID" dirty="0" smtClean="0"/>
              <a:t>TCP/IP adalah protokol yang mengendalikan, mengatur, mengijinkan terjadinya hubungan, komunikasi dan perpindahan antara dua atau lebih titik komputer. Protokol ini memungkinkan beragam jaringan komputer yang berbeda dapat saling berkomunikasi</a:t>
            </a:r>
            <a:endParaRPr lang="id-ID" dirty="0"/>
          </a:p>
        </p:txBody>
      </p:sp>
      <p:pic>
        <p:nvPicPr>
          <p:cNvPr id="8" name="Picture 7" descr="Screen Clippi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57642" y="3550326"/>
            <a:ext cx="2543530" cy="25591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33408" y="515463"/>
            <a:ext cx="1644598" cy="360040"/>
          </a:xfrm>
        </p:spPr>
        <p:txBody>
          <a:bodyPr>
            <a:normAutofit fontScale="90000"/>
          </a:bodyPr>
          <a:lstStyle/>
          <a:p>
            <a:r>
              <a:rPr lang="id-ID" dirty="0" smtClean="0"/>
              <a:t>Materi</a:t>
            </a:r>
            <a:endParaRPr lang="id-ID" dirty="0"/>
          </a:p>
        </p:txBody>
      </p:sp>
      <p:sp>
        <p:nvSpPr>
          <p:cNvPr id="5" name="TextBox 4"/>
          <p:cNvSpPr txBox="1"/>
          <p:nvPr/>
        </p:nvSpPr>
        <p:spPr>
          <a:xfrm>
            <a:off x="346845" y="1246287"/>
            <a:ext cx="5328592" cy="5078313"/>
          </a:xfrm>
          <a:prstGeom prst="rect">
            <a:avLst/>
          </a:prstGeom>
          <a:noFill/>
        </p:spPr>
        <p:txBody>
          <a:bodyPr wrap="square" rtlCol="0">
            <a:spAutoFit/>
          </a:bodyPr>
          <a:lstStyle/>
          <a:p>
            <a:pPr fontAlgn="auto">
              <a:lnSpc>
                <a:spcPct val="150000"/>
              </a:lnSpc>
              <a:spcBef>
                <a:spcPts val="0"/>
              </a:spcBef>
              <a:spcAft>
                <a:spcPts val="0"/>
              </a:spcAft>
              <a:defRPr/>
            </a:pPr>
            <a:r>
              <a:rPr lang="en-US" dirty="0" err="1"/>
              <a:t>Secara</a:t>
            </a:r>
            <a:r>
              <a:rPr lang="en-US" dirty="0"/>
              <a:t> </a:t>
            </a:r>
            <a:r>
              <a:rPr lang="en-US" dirty="0" err="1"/>
              <a:t>umum</a:t>
            </a:r>
            <a:r>
              <a:rPr lang="en-US" dirty="0"/>
              <a:t> </a:t>
            </a:r>
            <a:r>
              <a:rPr lang="en-US" dirty="0" err="1" smtClean="0"/>
              <a:t>untuk</a:t>
            </a:r>
            <a:r>
              <a:rPr lang="en-US" dirty="0" smtClean="0"/>
              <a:t> </a:t>
            </a:r>
            <a:r>
              <a:rPr lang="en-US" dirty="0" err="1"/>
              <a:t>tersambung</a:t>
            </a:r>
            <a:r>
              <a:rPr lang="en-US" dirty="0"/>
              <a:t> </a:t>
            </a:r>
            <a:r>
              <a:rPr lang="en-US" dirty="0" err="1"/>
              <a:t>ke</a:t>
            </a:r>
            <a:r>
              <a:rPr lang="en-US" dirty="0"/>
              <a:t> </a:t>
            </a:r>
            <a:r>
              <a:rPr lang="en-US" dirty="0" smtClean="0"/>
              <a:t>Internet</a:t>
            </a:r>
            <a:r>
              <a:rPr lang="id-ID" dirty="0" smtClean="0"/>
              <a:t> melalui ISP bisa dengan cara :</a:t>
            </a:r>
            <a:endParaRPr lang="en-US" dirty="0"/>
          </a:p>
          <a:p>
            <a:pPr marL="285750" indent="-285750" fontAlgn="auto">
              <a:lnSpc>
                <a:spcPct val="150000"/>
              </a:lnSpc>
              <a:spcBef>
                <a:spcPts val="0"/>
              </a:spcBef>
              <a:spcAft>
                <a:spcPts val="0"/>
              </a:spcAft>
              <a:buFont typeface="Arial" pitchFamily="34" charset="0"/>
              <a:buChar char="•"/>
              <a:defRPr/>
            </a:pPr>
            <a:r>
              <a:rPr lang="en-US" dirty="0" err="1" smtClean="0"/>
              <a:t>Menggunakan</a:t>
            </a:r>
            <a:r>
              <a:rPr lang="en-US" dirty="0" smtClean="0"/>
              <a:t> </a:t>
            </a:r>
            <a:r>
              <a:rPr lang="en-US" dirty="0"/>
              <a:t>Modem </a:t>
            </a:r>
            <a:r>
              <a:rPr lang="en-US" i="1" dirty="0"/>
              <a:t>dial-up</a:t>
            </a:r>
          </a:p>
          <a:p>
            <a:pPr fontAlgn="auto">
              <a:lnSpc>
                <a:spcPct val="150000"/>
              </a:lnSpc>
              <a:spcBef>
                <a:spcPts val="0"/>
              </a:spcBef>
              <a:spcAft>
                <a:spcPts val="0"/>
              </a:spcAft>
              <a:buFont typeface="Arial" pitchFamily="34" charset="0"/>
              <a:buChar char="•"/>
              <a:defRPr/>
            </a:pPr>
            <a:r>
              <a:rPr lang="en-US" i="1" dirty="0"/>
              <a:t>   </a:t>
            </a:r>
            <a:r>
              <a:rPr lang="en-US" dirty="0" err="1"/>
              <a:t>Menggunakan</a:t>
            </a:r>
            <a:r>
              <a:rPr lang="en-US" dirty="0"/>
              <a:t> </a:t>
            </a:r>
            <a:r>
              <a:rPr lang="en-US" dirty="0" err="1"/>
              <a:t>Handphone</a:t>
            </a:r>
            <a:endParaRPr lang="en-US" dirty="0"/>
          </a:p>
          <a:p>
            <a:pPr fontAlgn="auto">
              <a:lnSpc>
                <a:spcPct val="150000"/>
              </a:lnSpc>
              <a:spcBef>
                <a:spcPts val="0"/>
              </a:spcBef>
              <a:spcAft>
                <a:spcPts val="0"/>
              </a:spcAft>
              <a:buFont typeface="Arial" pitchFamily="34" charset="0"/>
              <a:buChar char="•"/>
              <a:defRPr/>
            </a:pPr>
            <a:r>
              <a:rPr lang="en-US" i="1" dirty="0"/>
              <a:t>   </a:t>
            </a:r>
            <a:r>
              <a:rPr lang="en-US" dirty="0" err="1"/>
              <a:t>Menggunakan</a:t>
            </a:r>
            <a:r>
              <a:rPr lang="en-US" dirty="0"/>
              <a:t> </a:t>
            </a:r>
            <a:r>
              <a:rPr lang="en-US" dirty="0" smtClean="0"/>
              <a:t>Hotspot</a:t>
            </a:r>
            <a:r>
              <a:rPr lang="en-US" i="1" dirty="0" smtClean="0"/>
              <a:t> </a:t>
            </a:r>
            <a:endParaRPr lang="en-US" i="1" dirty="0"/>
          </a:p>
          <a:p>
            <a:pPr marL="285750" indent="-285750" fontAlgn="auto">
              <a:lnSpc>
                <a:spcPct val="150000"/>
              </a:lnSpc>
              <a:spcBef>
                <a:spcPts val="0"/>
              </a:spcBef>
              <a:spcAft>
                <a:spcPts val="0"/>
              </a:spcAft>
              <a:buFont typeface="Arial" pitchFamily="34" charset="0"/>
              <a:buChar char="•"/>
              <a:defRPr/>
            </a:pPr>
            <a:r>
              <a:rPr lang="en-US" dirty="0" err="1" smtClean="0"/>
              <a:t>Menggunakan</a:t>
            </a:r>
            <a:r>
              <a:rPr lang="en-US" dirty="0" smtClean="0"/>
              <a:t> </a:t>
            </a:r>
            <a:r>
              <a:rPr lang="id-ID" dirty="0" smtClean="0"/>
              <a:t>M</a:t>
            </a:r>
            <a:r>
              <a:rPr lang="en-US" dirty="0" err="1" smtClean="0"/>
              <a:t>odem</a:t>
            </a:r>
            <a:r>
              <a:rPr lang="en-US" dirty="0" smtClean="0"/>
              <a:t> ADSL</a:t>
            </a:r>
            <a:endParaRPr lang="en-US" dirty="0"/>
          </a:p>
          <a:p>
            <a:pPr fontAlgn="auto">
              <a:lnSpc>
                <a:spcPct val="150000"/>
              </a:lnSpc>
              <a:spcBef>
                <a:spcPts val="0"/>
              </a:spcBef>
              <a:spcAft>
                <a:spcPts val="0"/>
              </a:spcAft>
              <a:buFont typeface="Wingdings" pitchFamily="2" charset="2"/>
              <a:buChar char="§"/>
              <a:defRPr/>
            </a:pPr>
            <a:r>
              <a:rPr lang="id-ID" dirty="0" smtClean="0"/>
              <a:t>   </a:t>
            </a:r>
            <a:r>
              <a:rPr lang="en-US" dirty="0" err="1" smtClean="0"/>
              <a:t>Menggunakan</a:t>
            </a:r>
            <a:r>
              <a:rPr lang="en-US" dirty="0" smtClean="0"/>
              <a:t> </a:t>
            </a:r>
            <a:r>
              <a:rPr lang="en-US" dirty="0" err="1"/>
              <a:t>Satelit</a:t>
            </a:r>
            <a:r>
              <a:rPr lang="en-US" dirty="0"/>
              <a:t> </a:t>
            </a:r>
          </a:p>
          <a:p>
            <a:pPr fontAlgn="auto">
              <a:lnSpc>
                <a:spcPct val="150000"/>
              </a:lnSpc>
              <a:spcBef>
                <a:spcPts val="0"/>
              </a:spcBef>
              <a:spcAft>
                <a:spcPts val="0"/>
              </a:spcAft>
              <a:defRPr/>
            </a:pPr>
            <a:endParaRPr lang="en-US" dirty="0"/>
          </a:p>
          <a:p>
            <a:pPr fontAlgn="auto">
              <a:lnSpc>
                <a:spcPct val="150000"/>
              </a:lnSpc>
              <a:spcBef>
                <a:spcPts val="0"/>
              </a:spcBef>
              <a:spcAft>
                <a:spcPts val="0"/>
              </a:spcAft>
              <a:defRPr/>
            </a:pPr>
            <a:r>
              <a:rPr lang="en-US" dirty="0" err="1"/>
              <a:t>Konfigurasi</a:t>
            </a:r>
            <a:r>
              <a:rPr lang="en-US" dirty="0"/>
              <a:t> </a:t>
            </a:r>
            <a:r>
              <a:rPr lang="en-US" dirty="0" err="1"/>
              <a:t>sambungan</a:t>
            </a:r>
            <a:r>
              <a:rPr lang="en-US" dirty="0"/>
              <a:t>  </a:t>
            </a:r>
            <a:r>
              <a:rPr lang="en-US" dirty="0" err="1"/>
              <a:t>ke</a:t>
            </a:r>
            <a:r>
              <a:rPr lang="en-US" dirty="0"/>
              <a:t> Internet </a:t>
            </a:r>
            <a:r>
              <a:rPr lang="en-US" dirty="0" err="1"/>
              <a:t>adalah</a:t>
            </a:r>
            <a:r>
              <a:rPr lang="en-US" dirty="0"/>
              <a:t> </a:t>
            </a:r>
            <a:r>
              <a:rPr lang="en-US" dirty="0" err="1"/>
              <a:t>sebagai</a:t>
            </a:r>
            <a:r>
              <a:rPr lang="en-US" dirty="0"/>
              <a:t> </a:t>
            </a:r>
            <a:r>
              <a:rPr lang="en-US" dirty="0" err="1"/>
              <a:t>berikut</a:t>
            </a:r>
            <a:r>
              <a:rPr lang="en-US" dirty="0"/>
              <a:t> :</a:t>
            </a:r>
          </a:p>
          <a:p>
            <a:pPr marL="342900" indent="-342900" fontAlgn="auto">
              <a:lnSpc>
                <a:spcPct val="150000"/>
              </a:lnSpc>
              <a:spcBef>
                <a:spcPts val="0"/>
              </a:spcBef>
              <a:spcAft>
                <a:spcPts val="0"/>
              </a:spcAft>
              <a:buFontTx/>
              <a:buAutoNum type="arabicPeriod"/>
              <a:defRPr/>
            </a:pPr>
            <a:r>
              <a:rPr lang="en-US" dirty="0" err="1"/>
              <a:t>Komputer</a:t>
            </a:r>
            <a:r>
              <a:rPr lang="en-US" dirty="0"/>
              <a:t> – Modem – Internet</a:t>
            </a:r>
          </a:p>
          <a:p>
            <a:pPr marL="342900" indent="-342900" fontAlgn="auto">
              <a:lnSpc>
                <a:spcPct val="150000"/>
              </a:lnSpc>
              <a:spcBef>
                <a:spcPts val="0"/>
              </a:spcBef>
              <a:spcAft>
                <a:spcPts val="0"/>
              </a:spcAft>
              <a:buFontTx/>
              <a:buAutoNum type="arabicPeriod"/>
              <a:defRPr/>
            </a:pPr>
            <a:r>
              <a:rPr lang="en-US" dirty="0" err="1"/>
              <a:t>Banyak</a:t>
            </a:r>
            <a:r>
              <a:rPr lang="en-US" dirty="0"/>
              <a:t> </a:t>
            </a:r>
            <a:r>
              <a:rPr lang="en-US" dirty="0" err="1"/>
              <a:t>Komputer</a:t>
            </a:r>
            <a:r>
              <a:rPr lang="en-US" dirty="0"/>
              <a:t> – Router – Modem – Internet</a:t>
            </a:r>
          </a:p>
        </p:txBody>
      </p:sp>
      <p:pic>
        <p:nvPicPr>
          <p:cNvPr id="6" name="Picture 5" descr="D:\data\Fadil\bahan ajar\TIK\jarkom\jarkom\net.jpg"/>
          <p:cNvPicPr>
            <a:picLocks noChangeAspect="1" noChangeArrowheads="1"/>
          </p:cNvPicPr>
          <p:nvPr/>
        </p:nvPicPr>
        <p:blipFill>
          <a:blip r:embed="rId2" cstate="print"/>
          <a:srcRect/>
          <a:stretch>
            <a:fillRect/>
          </a:stretch>
        </p:blipFill>
        <p:spPr bwMode="auto">
          <a:xfrm>
            <a:off x="5694338" y="1982919"/>
            <a:ext cx="3046003" cy="36050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wipe(down)">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wipe(down)">
                                      <p:cBhvr>
                                        <p:cTn id="19" dur="500"/>
                                        <p:tgtEl>
                                          <p:spTgt spid="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wipe(down)">
                                      <p:cBhvr>
                                        <p:cTn id="24" dur="500"/>
                                        <p:tgtEl>
                                          <p:spTgt spid="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wipe(down)">
                                      <p:cBhvr>
                                        <p:cTn id="29" dur="500"/>
                                        <p:tgtEl>
                                          <p:spTgt spid="5">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5">
                                            <p:txEl>
                                              <p:pRg st="5" end="5"/>
                                            </p:txEl>
                                          </p:spTgt>
                                        </p:tgtEl>
                                        <p:attrNameLst>
                                          <p:attrName>style.visibility</p:attrName>
                                        </p:attrNameLst>
                                      </p:cBhvr>
                                      <p:to>
                                        <p:strVal val="visible"/>
                                      </p:to>
                                    </p:set>
                                    <p:animEffect transition="in" filter="wipe(down)">
                                      <p:cBhvr>
                                        <p:cTn id="34" dur="500"/>
                                        <p:tgtEl>
                                          <p:spTgt spid="5">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Effect transition="in" filter="fade">
                                      <p:cBhvr>
                                        <p:cTn id="39" dur="1000"/>
                                        <p:tgtEl>
                                          <p:spTgt spid="5">
                                            <p:txEl>
                                              <p:pRg st="7" end="7"/>
                                            </p:txEl>
                                          </p:spTgt>
                                        </p:tgtEl>
                                      </p:cBhvr>
                                    </p:animEffect>
                                    <p:anim calcmode="lin" valueType="num">
                                      <p:cBhvr>
                                        <p:cTn id="40"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
                                            <p:txEl>
                                              <p:pRg st="8" end="8"/>
                                            </p:txEl>
                                          </p:spTgt>
                                        </p:tgtEl>
                                        <p:attrNameLst>
                                          <p:attrName>style.visibility</p:attrName>
                                        </p:attrNameLst>
                                      </p:cBhvr>
                                      <p:to>
                                        <p:strVal val="visible"/>
                                      </p:to>
                                    </p:set>
                                    <p:animEffect transition="in" filter="wipe(down)">
                                      <p:cBhvr>
                                        <p:cTn id="46" dur="500"/>
                                        <p:tgtEl>
                                          <p:spTgt spid="5">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5">
                                            <p:txEl>
                                              <p:pRg st="9" end="9"/>
                                            </p:txEl>
                                          </p:spTgt>
                                        </p:tgtEl>
                                        <p:attrNameLst>
                                          <p:attrName>style.visibility</p:attrName>
                                        </p:attrNameLst>
                                      </p:cBhvr>
                                      <p:to>
                                        <p:strVal val="visible"/>
                                      </p:to>
                                    </p:set>
                                    <p:animEffect transition="in" filter="wipe(down)">
                                      <p:cBhvr>
                                        <p:cTn id="51" dur="500"/>
                                        <p:tgtEl>
                                          <p:spTgt spid="5">
                                            <p:txEl>
                                              <p:pRg st="9" end="9"/>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circle(in)">
                                      <p:cBhvr>
                                        <p:cTn id="5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8424" y="555165"/>
            <a:ext cx="1644598" cy="360040"/>
          </a:xfrm>
        </p:spPr>
        <p:txBody>
          <a:bodyPr>
            <a:normAutofit fontScale="90000"/>
          </a:bodyPr>
          <a:lstStyle/>
          <a:p>
            <a:r>
              <a:rPr lang="id-ID" dirty="0" smtClean="0"/>
              <a:t>Materi</a:t>
            </a:r>
            <a:endParaRPr lang="id-ID" dirty="0"/>
          </a:p>
        </p:txBody>
      </p:sp>
      <p:sp>
        <p:nvSpPr>
          <p:cNvPr id="5" name="TextBox 4"/>
          <p:cNvSpPr txBox="1"/>
          <p:nvPr/>
        </p:nvSpPr>
        <p:spPr>
          <a:xfrm>
            <a:off x="448544" y="1066453"/>
            <a:ext cx="7704856" cy="880562"/>
          </a:xfrm>
          <a:prstGeom prst="rect">
            <a:avLst/>
          </a:prstGeom>
          <a:noFill/>
        </p:spPr>
        <p:txBody>
          <a:bodyPr wrap="square" rtlCol="0">
            <a:spAutoFit/>
          </a:bodyPr>
          <a:lstStyle/>
          <a:p>
            <a:pPr>
              <a:lnSpc>
                <a:spcPct val="150000"/>
              </a:lnSpc>
            </a:pPr>
            <a:r>
              <a:rPr lang="id-ID" dirty="0"/>
              <a:t>Untuk dapat mengakses internet, ada beberapa macam perangkat keras yang dibutuhkan antara lain</a:t>
            </a:r>
            <a:r>
              <a:rPr lang="id-ID" dirty="0" smtClean="0"/>
              <a:t>:</a:t>
            </a:r>
          </a:p>
        </p:txBody>
      </p:sp>
      <p:sp>
        <p:nvSpPr>
          <p:cNvPr id="6" name="TextBox 5"/>
          <p:cNvSpPr txBox="1"/>
          <p:nvPr/>
        </p:nvSpPr>
        <p:spPr>
          <a:xfrm>
            <a:off x="952600" y="1878605"/>
            <a:ext cx="7200800" cy="880562"/>
          </a:xfrm>
          <a:prstGeom prst="rect">
            <a:avLst/>
          </a:prstGeom>
          <a:noFill/>
        </p:spPr>
        <p:txBody>
          <a:bodyPr wrap="square" rtlCol="0">
            <a:spAutoFit/>
          </a:bodyPr>
          <a:lstStyle/>
          <a:p>
            <a:pPr marL="342900" indent="-342900">
              <a:lnSpc>
                <a:spcPct val="150000"/>
              </a:lnSpc>
              <a:buFont typeface="+mj-lt"/>
              <a:buAutoNum type="arabicPeriod"/>
            </a:pPr>
            <a:r>
              <a:rPr lang="id-ID" dirty="0" smtClean="0"/>
              <a:t>Komputer/laptop/notebook yang minimal dilengkapi dengan salah satu port koneksi dibawah ini</a:t>
            </a:r>
          </a:p>
        </p:txBody>
      </p:sp>
      <p:pic>
        <p:nvPicPr>
          <p:cNvPr id="7" name="Picture 6" descr="Screen Clippi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954797" y="2930020"/>
            <a:ext cx="1662099" cy="9751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Screen Clipping"/>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3859015" y="4031004"/>
            <a:ext cx="1761007" cy="10277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Screen Clipping"/>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137176" y="5031113"/>
            <a:ext cx="1449264" cy="114108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Rectangle 9"/>
          <p:cNvSpPr/>
          <p:nvPr/>
        </p:nvSpPr>
        <p:spPr>
          <a:xfrm>
            <a:off x="952600" y="3145132"/>
            <a:ext cx="1002197" cy="507831"/>
          </a:xfrm>
          <a:prstGeom prst="rect">
            <a:avLst/>
          </a:prstGeom>
        </p:spPr>
        <p:txBody>
          <a:bodyPr wrap="none">
            <a:spAutoFit/>
          </a:bodyPr>
          <a:lstStyle/>
          <a:p>
            <a:pPr>
              <a:lnSpc>
                <a:spcPct val="150000"/>
              </a:lnSpc>
            </a:pPr>
            <a:r>
              <a:rPr lang="id-ID" dirty="0"/>
              <a:t>PCI Slot</a:t>
            </a:r>
          </a:p>
        </p:txBody>
      </p:sp>
      <p:sp>
        <p:nvSpPr>
          <p:cNvPr id="11" name="Rectangle 10"/>
          <p:cNvSpPr/>
          <p:nvPr/>
        </p:nvSpPr>
        <p:spPr>
          <a:xfrm>
            <a:off x="2597244" y="4360199"/>
            <a:ext cx="1241045" cy="369332"/>
          </a:xfrm>
          <a:prstGeom prst="rect">
            <a:avLst/>
          </a:prstGeom>
        </p:spPr>
        <p:txBody>
          <a:bodyPr wrap="none">
            <a:spAutoFit/>
          </a:bodyPr>
          <a:lstStyle/>
          <a:p>
            <a:r>
              <a:rPr lang="id-ID" dirty="0"/>
              <a:t>Port LAN </a:t>
            </a:r>
          </a:p>
        </p:txBody>
      </p:sp>
      <p:sp>
        <p:nvSpPr>
          <p:cNvPr id="12" name="Rectangle 11"/>
          <p:cNvSpPr/>
          <p:nvPr/>
        </p:nvSpPr>
        <p:spPr>
          <a:xfrm>
            <a:off x="4849423" y="5452445"/>
            <a:ext cx="1168910" cy="369332"/>
          </a:xfrm>
          <a:prstGeom prst="rect">
            <a:avLst/>
          </a:prstGeom>
        </p:spPr>
        <p:txBody>
          <a:bodyPr wrap="none">
            <a:spAutoFit/>
          </a:bodyPr>
          <a:lstStyle/>
          <a:p>
            <a:r>
              <a:rPr lang="id-ID" dirty="0"/>
              <a:t>Port USB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1000"/>
                                        <p:tgtEl>
                                          <p:spTgt spid="9"/>
                                        </p:tgtEl>
                                      </p:cBhvr>
                                    </p:animEffect>
                                    <p:anim calcmode="lin" valueType="num">
                                      <p:cBhvr>
                                        <p:cTn id="49" dur="1000" fill="hold"/>
                                        <p:tgtEl>
                                          <p:spTgt spid="9"/>
                                        </p:tgtEl>
                                        <p:attrNameLst>
                                          <p:attrName>ppt_x</p:attrName>
                                        </p:attrNameLst>
                                      </p:cBhvr>
                                      <p:tavLst>
                                        <p:tav tm="0">
                                          <p:val>
                                            <p:strVal val="#ppt_x"/>
                                          </p:val>
                                        </p:tav>
                                        <p:tav tm="100000">
                                          <p:val>
                                            <p:strVal val="#ppt_x"/>
                                          </p:val>
                                        </p:tav>
                                      </p:tavLst>
                                    </p:anim>
                                    <p:anim calcmode="lin" valueType="num">
                                      <p:cBhvr>
                                        <p:cTn id="5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32528" y="515187"/>
            <a:ext cx="1644598" cy="360040"/>
          </a:xfrm>
        </p:spPr>
        <p:txBody>
          <a:bodyPr>
            <a:normAutofit fontScale="90000"/>
          </a:bodyPr>
          <a:lstStyle/>
          <a:p>
            <a:r>
              <a:rPr lang="id-ID" dirty="0" smtClean="0"/>
              <a:t>Materi</a:t>
            </a:r>
            <a:endParaRPr lang="id-ID" dirty="0"/>
          </a:p>
        </p:txBody>
      </p:sp>
      <p:sp>
        <p:nvSpPr>
          <p:cNvPr id="5" name="Rectangle 4"/>
          <p:cNvSpPr/>
          <p:nvPr/>
        </p:nvSpPr>
        <p:spPr>
          <a:xfrm>
            <a:off x="496390" y="974531"/>
            <a:ext cx="8495210" cy="3373552"/>
          </a:xfrm>
          <a:prstGeom prst="rect">
            <a:avLst/>
          </a:prstGeom>
        </p:spPr>
        <p:txBody>
          <a:bodyPr wrap="square">
            <a:spAutoFit/>
          </a:bodyPr>
          <a:lstStyle/>
          <a:p>
            <a:pPr marL="342900" indent="-342900">
              <a:lnSpc>
                <a:spcPct val="150000"/>
              </a:lnSpc>
              <a:buAutoNum type="arabicPeriod" startAt="2"/>
              <a:tabLst>
                <a:tab pos="355600" algn="l"/>
              </a:tabLst>
            </a:pPr>
            <a:r>
              <a:rPr lang="id-ID" dirty="0" smtClean="0"/>
              <a:t>Modem </a:t>
            </a:r>
            <a:r>
              <a:rPr lang="id-ID" dirty="0"/>
              <a:t>(Modulator Demodulator)</a:t>
            </a:r>
          </a:p>
          <a:p>
            <a:pPr marL="355600">
              <a:lnSpc>
                <a:spcPct val="150000"/>
              </a:lnSpc>
            </a:pPr>
            <a:r>
              <a:rPr lang="id-ID" dirty="0" smtClean="0"/>
              <a:t>Modem </a:t>
            </a:r>
            <a:r>
              <a:rPr lang="id-ID" dirty="0"/>
              <a:t>lebih dikenal sebagai Perangkat keras yang sering digunakan untuk komunikasi pada komputer. Data dari komputer yang berbentuk sinyal digital diberikan kepada modem untuk diubah menjadi sinyal analog. Sinyal analog tersebut dapat dikirimkan melalui beberapa media </a:t>
            </a:r>
            <a:r>
              <a:rPr lang="id-ID" dirty="0" smtClean="0"/>
              <a:t>telekomunikasi </a:t>
            </a:r>
            <a:r>
              <a:rPr lang="id-ID" dirty="0"/>
              <a:t>seperti telepon dan </a:t>
            </a:r>
            <a:r>
              <a:rPr lang="id-ID" dirty="0" smtClean="0"/>
              <a:t>radio. Setibanya </a:t>
            </a:r>
            <a:r>
              <a:rPr lang="id-ID" dirty="0"/>
              <a:t>di modem tujuan, sinyal analog tersebut diubah menjadi sinyal digital kembali dan dikirimkan kepada komputer. Terdapat dua jenis modem secara fisiknya, yaitu modem eksternal dan modem internal</a:t>
            </a:r>
            <a:r>
              <a:rPr lang="id-ID" dirty="0" smtClean="0"/>
              <a:t>.</a:t>
            </a:r>
            <a:endParaRPr lang="id-ID" dirty="0"/>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934816" y="4430915"/>
            <a:ext cx="5973009" cy="1969885"/>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33408" y="377368"/>
            <a:ext cx="1644598" cy="360040"/>
          </a:xfrm>
        </p:spPr>
        <p:txBody>
          <a:bodyPr>
            <a:normAutofit fontScale="90000"/>
          </a:bodyPr>
          <a:lstStyle/>
          <a:p>
            <a:r>
              <a:rPr lang="id-ID" dirty="0" smtClean="0"/>
              <a:t>Materi</a:t>
            </a:r>
            <a:endParaRPr lang="id-ID" dirty="0"/>
          </a:p>
        </p:txBody>
      </p:sp>
      <p:sp>
        <p:nvSpPr>
          <p:cNvPr id="5" name="Rectangle 4"/>
          <p:cNvSpPr/>
          <p:nvPr/>
        </p:nvSpPr>
        <p:spPr>
          <a:xfrm>
            <a:off x="413680" y="1340768"/>
            <a:ext cx="4572000" cy="4662815"/>
          </a:xfrm>
          <a:prstGeom prst="rect">
            <a:avLst/>
          </a:prstGeom>
        </p:spPr>
        <p:txBody>
          <a:bodyPr>
            <a:spAutoFit/>
          </a:bodyPr>
          <a:lstStyle/>
          <a:p>
            <a:pPr marL="355600">
              <a:lnSpc>
                <a:spcPct val="150000"/>
              </a:lnSpc>
            </a:pPr>
            <a:r>
              <a:rPr lang="id-ID" b="1" dirty="0"/>
              <a:t>a. </a:t>
            </a:r>
            <a:r>
              <a:rPr lang="en-US" b="1" dirty="0"/>
              <a:t>Modem Internal</a:t>
            </a:r>
          </a:p>
          <a:p>
            <a:pPr marL="636588" indent="-3175" fontAlgn="auto">
              <a:lnSpc>
                <a:spcPct val="150000"/>
              </a:lnSpc>
              <a:spcBef>
                <a:spcPts val="0"/>
              </a:spcBef>
              <a:spcAft>
                <a:spcPts val="0"/>
              </a:spcAft>
              <a:defRPr/>
            </a:pPr>
            <a:r>
              <a:rPr lang="en-US" dirty="0"/>
              <a:t> Modem yang </a:t>
            </a:r>
            <a:r>
              <a:rPr lang="en-US" dirty="0" err="1"/>
              <a:t>dipasang</a:t>
            </a:r>
            <a:r>
              <a:rPr lang="en-US" dirty="0"/>
              <a:t> </a:t>
            </a:r>
            <a:r>
              <a:rPr lang="en-US" dirty="0" err="1"/>
              <a:t>didalam</a:t>
            </a:r>
            <a:r>
              <a:rPr lang="en-US" dirty="0"/>
              <a:t> </a:t>
            </a:r>
            <a:r>
              <a:rPr lang="en-US" dirty="0" err="1"/>
              <a:t>komputer</a:t>
            </a:r>
            <a:r>
              <a:rPr lang="en-US" dirty="0"/>
              <a:t> yang </a:t>
            </a:r>
            <a:r>
              <a:rPr lang="en-US" dirty="0" err="1"/>
              <a:t>dipasangkan</a:t>
            </a:r>
            <a:r>
              <a:rPr lang="en-US" dirty="0"/>
              <a:t> di slot PCI di </a:t>
            </a:r>
            <a:r>
              <a:rPr lang="en-US" dirty="0" err="1"/>
              <a:t>Komputer</a:t>
            </a:r>
            <a:r>
              <a:rPr lang="id-ID" dirty="0"/>
              <a:t> atau untuk laptop biasa disebut modem built in</a:t>
            </a:r>
          </a:p>
          <a:p>
            <a:pPr marL="636588" indent="-3175" fontAlgn="auto">
              <a:lnSpc>
                <a:spcPct val="150000"/>
              </a:lnSpc>
              <a:spcBef>
                <a:spcPts val="0"/>
              </a:spcBef>
              <a:spcAft>
                <a:spcPts val="0"/>
              </a:spcAft>
              <a:defRPr/>
            </a:pPr>
            <a:endParaRPr lang="id-ID" dirty="0" smtClean="0"/>
          </a:p>
          <a:p>
            <a:pPr marL="636588" indent="-3175" fontAlgn="auto">
              <a:lnSpc>
                <a:spcPct val="150000"/>
              </a:lnSpc>
              <a:spcBef>
                <a:spcPts val="0"/>
              </a:spcBef>
              <a:spcAft>
                <a:spcPts val="0"/>
              </a:spcAft>
              <a:defRPr/>
            </a:pPr>
            <a:endParaRPr lang="en-US" dirty="0"/>
          </a:p>
          <a:p>
            <a:pPr marL="339725" fontAlgn="auto">
              <a:lnSpc>
                <a:spcPct val="150000"/>
              </a:lnSpc>
              <a:spcBef>
                <a:spcPts val="0"/>
              </a:spcBef>
              <a:spcAft>
                <a:spcPts val="0"/>
              </a:spcAft>
              <a:defRPr/>
            </a:pPr>
            <a:r>
              <a:rPr lang="id-ID" b="1" dirty="0"/>
              <a:t>b. </a:t>
            </a:r>
            <a:r>
              <a:rPr lang="en-US" b="1" dirty="0"/>
              <a:t>Modem </a:t>
            </a:r>
            <a:r>
              <a:rPr lang="en-US" b="1" dirty="0" err="1"/>
              <a:t>Eksternal</a:t>
            </a:r>
            <a:endParaRPr lang="en-US" b="1" dirty="0"/>
          </a:p>
          <a:p>
            <a:pPr marL="682625" indent="11113" fontAlgn="auto">
              <a:lnSpc>
                <a:spcPct val="150000"/>
              </a:lnSpc>
              <a:spcBef>
                <a:spcPts val="0"/>
              </a:spcBef>
              <a:spcAft>
                <a:spcPts val="0"/>
              </a:spcAft>
              <a:defRPr/>
            </a:pPr>
            <a:r>
              <a:rPr lang="en-US" dirty="0"/>
              <a:t>Modem yang </a:t>
            </a:r>
            <a:r>
              <a:rPr lang="en-US" dirty="0" err="1"/>
              <a:t>berada</a:t>
            </a:r>
            <a:r>
              <a:rPr lang="en-US" dirty="0"/>
              <a:t> di </a:t>
            </a:r>
            <a:r>
              <a:rPr lang="en-US" dirty="0" err="1"/>
              <a:t>luar</a:t>
            </a:r>
            <a:r>
              <a:rPr lang="en-US" dirty="0"/>
              <a:t> </a:t>
            </a:r>
            <a:r>
              <a:rPr lang="en-US" dirty="0" err="1"/>
              <a:t>komputer</a:t>
            </a:r>
            <a:r>
              <a:rPr lang="en-US" dirty="0"/>
              <a:t> yang </a:t>
            </a:r>
            <a:r>
              <a:rPr lang="en-US" dirty="0" err="1"/>
              <a:t>dapat</a:t>
            </a:r>
            <a:r>
              <a:rPr lang="en-US" dirty="0"/>
              <a:t> </a:t>
            </a:r>
            <a:r>
              <a:rPr lang="en-US" dirty="0" err="1"/>
              <a:t>dilepas</a:t>
            </a:r>
            <a:r>
              <a:rPr lang="en-US" dirty="0"/>
              <a:t> </a:t>
            </a:r>
            <a:r>
              <a:rPr lang="en-US" dirty="0" err="1"/>
              <a:t>dan</a:t>
            </a:r>
            <a:r>
              <a:rPr lang="en-US" dirty="0"/>
              <a:t> </a:t>
            </a:r>
            <a:r>
              <a:rPr lang="en-US" dirty="0" err="1"/>
              <a:t>dipasang</a:t>
            </a:r>
            <a:r>
              <a:rPr lang="en-US" dirty="0"/>
              <a:t> </a:t>
            </a:r>
            <a:r>
              <a:rPr lang="en-US" dirty="0" err="1"/>
              <a:t>serta</a:t>
            </a:r>
            <a:r>
              <a:rPr lang="en-US" dirty="0"/>
              <a:t> </a:t>
            </a:r>
            <a:r>
              <a:rPr lang="en-US" dirty="0" err="1"/>
              <a:t>dapat</a:t>
            </a:r>
            <a:r>
              <a:rPr lang="en-US" dirty="0"/>
              <a:t> di </a:t>
            </a:r>
            <a:r>
              <a:rPr lang="en-US" dirty="0" err="1"/>
              <a:t>bawa-bawa</a:t>
            </a:r>
            <a:r>
              <a:rPr lang="en-US" dirty="0"/>
              <a:t> </a:t>
            </a:r>
            <a:r>
              <a:rPr lang="en-US" dirty="0" err="1"/>
              <a:t>kemana-mana</a:t>
            </a:r>
            <a:r>
              <a:rPr lang="id-ID" dirty="0"/>
              <a:t> </a:t>
            </a:r>
            <a:endParaRPr lang="en-US" dirty="0"/>
          </a:p>
        </p:txBody>
      </p:sp>
      <p:pic>
        <p:nvPicPr>
          <p:cNvPr id="6" name="Picture 5" descr="Screen Clippi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rot="330786">
            <a:off x="5714032" y="4539262"/>
            <a:ext cx="1823125" cy="1376646"/>
          </a:xfrm>
          <a:prstGeom prst="roundRect">
            <a:avLst>
              <a:gd name="adj" fmla="val 8594"/>
            </a:avLst>
          </a:prstGeom>
          <a:solidFill>
            <a:srgbClr val="FFFFFF">
              <a:shade val="85000"/>
            </a:srgbClr>
          </a:solidFill>
          <a:ln>
            <a:noFill/>
          </a:ln>
          <a:effectLst>
            <a:reflection blurRad="6350" stA="50000" endA="275" endPos="40000" dist="101600" dir="5400000" sy="-100000" algn="bl" rotWithShape="0"/>
          </a:effectLst>
          <a:scene3d>
            <a:camera prst="orthographicFront"/>
            <a:lightRig rig="threePt" dir="t"/>
          </a:scene3d>
          <a:sp3d>
            <a:bevelT/>
          </a:sp3d>
        </p:spPr>
      </p:pic>
      <p:pic>
        <p:nvPicPr>
          <p:cNvPr id="7" name="Picture 6" descr="Screen Clipping"/>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rot="20268904">
            <a:off x="5765408" y="1340020"/>
            <a:ext cx="2080523" cy="15761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orthographicFront"/>
            <a:lightRig rig="threePt" dir="t"/>
          </a:scene3d>
          <a:sp3d>
            <a:bevelT/>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wipe(down)">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1000"/>
                                        <p:tgtEl>
                                          <p:spTgt spid="5">
                                            <p:txEl>
                                              <p:pRg st="4" end="4"/>
                                            </p:txEl>
                                          </p:spTgt>
                                        </p:tgtEl>
                                      </p:cBhvr>
                                    </p:animEffect>
                                    <p:anim calcmode="lin" valueType="num">
                                      <p:cBhvr>
                                        <p:cTn id="1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fade">
                                      <p:cBhvr>
                                        <p:cTn id="20" dur="1000"/>
                                        <p:tgtEl>
                                          <p:spTgt spid="5">
                                            <p:txEl>
                                              <p:pRg st="5" end="5"/>
                                            </p:txEl>
                                          </p:spTgt>
                                        </p:tgtEl>
                                      </p:cBhvr>
                                    </p:animEffect>
                                    <p:anim calcmode="lin" valueType="num">
                                      <p:cBhvr>
                                        <p:cTn id="21"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ircle(in)">
                                      <p:cBhvr>
                                        <p:cTn id="27" dur="2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39631" y="488358"/>
            <a:ext cx="1644598" cy="360040"/>
          </a:xfrm>
        </p:spPr>
        <p:txBody>
          <a:bodyPr>
            <a:normAutofit fontScale="90000"/>
          </a:bodyPr>
          <a:lstStyle/>
          <a:p>
            <a:r>
              <a:rPr lang="id-ID" dirty="0" smtClean="0"/>
              <a:t>Materi</a:t>
            </a:r>
            <a:endParaRPr lang="id-ID" dirty="0"/>
          </a:p>
        </p:txBody>
      </p:sp>
      <p:sp>
        <p:nvSpPr>
          <p:cNvPr id="9" name="Rectangle 8"/>
          <p:cNvSpPr/>
          <p:nvPr/>
        </p:nvSpPr>
        <p:spPr>
          <a:xfrm>
            <a:off x="537385" y="1091718"/>
            <a:ext cx="7703122" cy="923330"/>
          </a:xfrm>
          <a:prstGeom prst="rect">
            <a:avLst/>
          </a:prstGeom>
        </p:spPr>
        <p:txBody>
          <a:bodyPr wrap="square">
            <a:spAutoFit/>
          </a:bodyPr>
          <a:lstStyle/>
          <a:p>
            <a:pPr defTabSz="355600"/>
            <a:r>
              <a:rPr lang="id-ID" dirty="0" smtClean="0"/>
              <a:t>3. 	ISP ( Internet service povider)</a:t>
            </a:r>
            <a:endParaRPr lang="id-ID" dirty="0"/>
          </a:p>
          <a:p>
            <a:pPr marL="355600"/>
            <a:r>
              <a:rPr lang="sv-SE" dirty="0"/>
              <a:t>Adalah </a:t>
            </a:r>
            <a:r>
              <a:rPr lang="sv-SE" dirty="0" smtClean="0"/>
              <a:t>perusahaan</a:t>
            </a:r>
            <a:r>
              <a:rPr lang="id-ID" dirty="0" smtClean="0"/>
              <a:t> telekomunikasi</a:t>
            </a:r>
            <a:r>
              <a:rPr lang="sv-SE" dirty="0" smtClean="0"/>
              <a:t> </a:t>
            </a:r>
            <a:r>
              <a:rPr lang="sv-SE" dirty="0"/>
              <a:t>yang memberikan layanan koneksi ke jaringan </a:t>
            </a:r>
            <a:r>
              <a:rPr lang="sv-SE" dirty="0" smtClean="0"/>
              <a:t>internet</a:t>
            </a:r>
            <a:r>
              <a:rPr lang="id-ID" dirty="0" smtClean="0"/>
              <a:t>. </a:t>
            </a:r>
            <a:r>
              <a:rPr lang="sv-SE" dirty="0" smtClean="0"/>
              <a:t>Contoh  </a:t>
            </a:r>
            <a:r>
              <a:rPr lang="sv-SE" dirty="0"/>
              <a:t>: </a:t>
            </a:r>
            <a:r>
              <a:rPr lang="id-ID" dirty="0" smtClean="0"/>
              <a:t>Telkom, Indosat, Telkomsel dan lainnya</a:t>
            </a:r>
            <a:endParaRPr lang="sv-SE" dirty="0"/>
          </a:p>
        </p:txBody>
      </p:sp>
      <p:sp>
        <p:nvSpPr>
          <p:cNvPr id="10" name="Rectangle 9"/>
          <p:cNvSpPr/>
          <p:nvPr/>
        </p:nvSpPr>
        <p:spPr>
          <a:xfrm>
            <a:off x="896558" y="2022921"/>
            <a:ext cx="6984776" cy="943654"/>
          </a:xfrm>
          <a:prstGeom prst="rect">
            <a:avLst/>
          </a:prstGeom>
        </p:spPr>
        <p:txBody>
          <a:bodyPr wrap="square">
            <a:spAutoFit/>
          </a:bodyPr>
          <a:lstStyle/>
          <a:p>
            <a:r>
              <a:rPr lang="id-ID" dirty="0" smtClean="0"/>
              <a:t>Jenis koneksi </a:t>
            </a:r>
            <a:r>
              <a:rPr lang="id-ID" dirty="0"/>
              <a:t>internet yang </a:t>
            </a:r>
            <a:r>
              <a:rPr lang="id-ID" dirty="0" smtClean="0"/>
              <a:t>ditawarkan  oleh ISP dapat dibagi dalam dua jenis, </a:t>
            </a:r>
            <a:r>
              <a:rPr lang="id-ID" dirty="0"/>
              <a:t>yaitu koneksi internet dengan menggunakan kabel dan nirkabel ( wireless )</a:t>
            </a:r>
          </a:p>
        </p:txBody>
      </p:sp>
      <p:sp>
        <p:nvSpPr>
          <p:cNvPr id="11" name="Rectangle 10"/>
          <p:cNvSpPr/>
          <p:nvPr/>
        </p:nvSpPr>
        <p:spPr>
          <a:xfrm>
            <a:off x="857907" y="3014514"/>
            <a:ext cx="5083101" cy="3462486"/>
          </a:xfrm>
          <a:prstGeom prst="rect">
            <a:avLst/>
          </a:prstGeom>
        </p:spPr>
        <p:txBody>
          <a:bodyPr wrap="square">
            <a:spAutoFit/>
          </a:bodyPr>
          <a:lstStyle/>
          <a:p>
            <a:pPr>
              <a:lnSpc>
                <a:spcPct val="150000"/>
              </a:lnSpc>
            </a:pPr>
            <a:r>
              <a:rPr lang="id-ID" sz="2000" b="1" u="sng" dirty="0"/>
              <a:t>Koneksi Internet Nirkabel (wireless) </a:t>
            </a:r>
            <a:r>
              <a:rPr lang="id-ID" dirty="0"/>
              <a:t/>
            </a:r>
            <a:br>
              <a:rPr lang="id-ID" dirty="0"/>
            </a:br>
            <a:r>
              <a:rPr lang="id-ID" dirty="0" smtClean="0"/>
              <a:t>wireless </a:t>
            </a:r>
            <a:r>
              <a:rPr lang="id-ID" dirty="0"/>
              <a:t>adalah teknologi tanpa kabel, dalam hal ini adalah melakukan hubungan telekomunikasi dengan menggunakan gelombang elektromagnetik sebagai pengganti kabel. Saat ini teknologi wireless berkembang dengan pesat, secara kasat mata dapat dilihat dengan semakin banyaknya pemakaian telepon </a:t>
            </a:r>
            <a:r>
              <a:rPr lang="id-ID" dirty="0" smtClean="0"/>
              <a:t>selular</a:t>
            </a:r>
            <a:endParaRPr lang="id-ID" dirty="0">
              <a:effectLst/>
            </a:endParaRPr>
          </a:p>
        </p:txBody>
      </p:sp>
      <p:pic>
        <p:nvPicPr>
          <p:cNvPr id="12" name="Picture 11" descr="Screen Clippi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rot="408263">
            <a:off x="6030191" y="3606172"/>
            <a:ext cx="2461113" cy="21600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orthographicFront"/>
            <a:lightRig rig="threePt" dir="t"/>
          </a:scene3d>
          <a:sp3d>
            <a:bevelT/>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circle(in)">
                                      <p:cBhvr>
                                        <p:cTn id="26"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6366" y="590048"/>
            <a:ext cx="1644598" cy="360040"/>
          </a:xfrm>
        </p:spPr>
        <p:txBody>
          <a:bodyPr>
            <a:normAutofit fontScale="90000"/>
          </a:bodyPr>
          <a:lstStyle/>
          <a:p>
            <a:r>
              <a:rPr lang="id-ID" dirty="0" smtClean="0"/>
              <a:t>Materi</a:t>
            </a:r>
            <a:endParaRPr lang="id-ID" dirty="0"/>
          </a:p>
        </p:txBody>
      </p:sp>
      <p:sp>
        <p:nvSpPr>
          <p:cNvPr id="5" name="Rectangle 4"/>
          <p:cNvSpPr/>
          <p:nvPr/>
        </p:nvSpPr>
        <p:spPr>
          <a:xfrm>
            <a:off x="670502" y="1841480"/>
            <a:ext cx="3816424" cy="3416320"/>
          </a:xfrm>
          <a:prstGeom prst="rect">
            <a:avLst/>
          </a:prstGeom>
        </p:spPr>
        <p:txBody>
          <a:bodyPr wrap="square">
            <a:spAutoFit/>
          </a:bodyPr>
          <a:lstStyle/>
          <a:p>
            <a:pPr>
              <a:lnSpc>
                <a:spcPct val="150000"/>
              </a:lnSpc>
            </a:pPr>
            <a:r>
              <a:rPr lang="id-ID" b="1" u="sng" dirty="0"/>
              <a:t>Koneksi Internet Kabel </a:t>
            </a:r>
            <a:r>
              <a:rPr lang="id-ID" dirty="0"/>
              <a:t/>
            </a:r>
            <a:br>
              <a:rPr lang="id-ID" dirty="0"/>
            </a:br>
            <a:r>
              <a:rPr lang="id-ID" dirty="0"/>
              <a:t>Koneksi internet kabel adalah jenis koneksi yang memanfaatkan media kabel sebagai penghantarnya. Koneksi ini juga beragam, baik dari segi biaya maupun kecepatanya. Berikut ini beberapa jenis koneksi internet yang menggunakan media kabel. </a:t>
            </a:r>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rot="789436">
            <a:off x="5207005" y="2231920"/>
            <a:ext cx="3251195" cy="2635439"/>
          </a:xfrm>
          <a:prstGeom prst="roundRect">
            <a:avLst>
              <a:gd name="adj" fmla="val 8594"/>
            </a:avLst>
          </a:prstGeom>
          <a:solidFill>
            <a:srgbClr val="FFFFFF">
              <a:shade val="85000"/>
            </a:srgbClr>
          </a:solidFill>
          <a:ln>
            <a:noFill/>
          </a:ln>
          <a:effectLst>
            <a:glow rad="228600">
              <a:schemeClr val="accent6">
                <a:satMod val="175000"/>
                <a:alpha val="40000"/>
              </a:schemeClr>
            </a:glow>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ircle(in)">
                                      <p:cBhvr>
                                        <p:cTn id="14"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rotWithShape="1">
          <a:blip r:embed="rId2" cstate="print">
            <a:extLst>
              <a:ext uri="{28A0092B-C50C-407E-A947-70E740481C1C}">
                <a14:useLocalDpi xmlns:a14="http://schemas.microsoft.com/office/drawing/2010/main" xmlns="" val="0"/>
              </a:ext>
            </a:extLst>
          </a:blip>
          <a:srcRect l="15459" r="19678"/>
          <a:stretch/>
        </p:blipFill>
        <p:spPr>
          <a:xfrm>
            <a:off x="6344047" y="2216455"/>
            <a:ext cx="2190353" cy="288894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style>
          <a:lnRef idx="2">
            <a:schemeClr val="accent2">
              <a:shade val="50000"/>
            </a:schemeClr>
          </a:lnRef>
          <a:fillRef idx="1">
            <a:schemeClr val="accent2"/>
          </a:fillRef>
          <a:effectRef idx="0">
            <a:schemeClr val="accent2"/>
          </a:effectRef>
          <a:fontRef idx="minor">
            <a:schemeClr val="lt1"/>
          </a:fontRef>
        </p:style>
      </p:pic>
      <p:sp>
        <p:nvSpPr>
          <p:cNvPr id="5" name="Title 1"/>
          <p:cNvSpPr>
            <a:spLocks noGrp="1"/>
          </p:cNvSpPr>
          <p:nvPr>
            <p:ph type="title"/>
          </p:nvPr>
        </p:nvSpPr>
        <p:spPr>
          <a:xfrm>
            <a:off x="445647" y="676991"/>
            <a:ext cx="1644598" cy="360040"/>
          </a:xfrm>
        </p:spPr>
        <p:txBody>
          <a:bodyPr>
            <a:normAutofit fontScale="90000"/>
          </a:bodyPr>
          <a:lstStyle/>
          <a:p>
            <a:r>
              <a:rPr lang="id-ID" dirty="0" smtClean="0"/>
              <a:t>Materi</a:t>
            </a:r>
            <a:endParaRPr lang="id-ID" dirty="0"/>
          </a:p>
        </p:txBody>
      </p:sp>
      <p:sp>
        <p:nvSpPr>
          <p:cNvPr id="6" name="Rectangle 5"/>
          <p:cNvSpPr/>
          <p:nvPr/>
        </p:nvSpPr>
        <p:spPr>
          <a:xfrm>
            <a:off x="435767" y="1136335"/>
            <a:ext cx="7344816" cy="523220"/>
          </a:xfrm>
          <a:prstGeom prst="rect">
            <a:avLst/>
          </a:prstGeom>
        </p:spPr>
        <p:txBody>
          <a:bodyPr wrap="square">
            <a:spAutoFit/>
          </a:bodyPr>
          <a:lstStyle/>
          <a:p>
            <a:r>
              <a:rPr lang="id-ID" sz="2800" b="1" dirty="0"/>
              <a:t>Internet Dalam Jaringan Lokal</a:t>
            </a:r>
          </a:p>
        </p:txBody>
      </p:sp>
      <p:sp>
        <p:nvSpPr>
          <p:cNvPr id="7" name="Rectangle 6"/>
          <p:cNvSpPr/>
          <p:nvPr/>
        </p:nvSpPr>
        <p:spPr>
          <a:xfrm>
            <a:off x="507775" y="2072439"/>
            <a:ext cx="5184576" cy="2862322"/>
          </a:xfrm>
          <a:prstGeom prst="rect">
            <a:avLst/>
          </a:prstGeom>
        </p:spPr>
        <p:txBody>
          <a:bodyPr wrap="square">
            <a:spAutoFit/>
          </a:bodyPr>
          <a:lstStyle/>
          <a:p>
            <a:pPr>
              <a:defRPr/>
            </a:pPr>
            <a:r>
              <a:rPr lang="id-ID" b="1" dirty="0"/>
              <a:t>Sharing Internet</a:t>
            </a:r>
          </a:p>
          <a:p>
            <a:pPr marL="273050" indent="-273050">
              <a:lnSpc>
                <a:spcPct val="150000"/>
              </a:lnSpc>
              <a:buFont typeface="Wingdings 2" pitchFamily="18" charset="2"/>
              <a:buNone/>
              <a:defRPr/>
            </a:pPr>
            <a:r>
              <a:rPr lang="id-ID" dirty="0"/>
              <a:t>	sharing internet dilakukan pada satu PC, kemudian melalui ethernetcard dihubungkan ke hub dengan kabel UTP dan setiap computer client dapat  mengakses dengan ethernet card yang dihubungkan ke hub. Modem hanya digunakan pada satu komputer sebagai server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94369" y="533400"/>
            <a:ext cx="1644598" cy="360040"/>
          </a:xfrm>
        </p:spPr>
        <p:txBody>
          <a:bodyPr>
            <a:normAutofit fontScale="90000"/>
          </a:bodyPr>
          <a:lstStyle/>
          <a:p>
            <a:r>
              <a:rPr lang="id-ID" dirty="0" smtClean="0"/>
              <a:t>Materi</a:t>
            </a:r>
            <a:endParaRPr lang="id-ID" dirty="0"/>
          </a:p>
        </p:txBody>
      </p:sp>
      <p:sp>
        <p:nvSpPr>
          <p:cNvPr id="6" name="Rectangle 5"/>
          <p:cNvSpPr/>
          <p:nvPr/>
        </p:nvSpPr>
        <p:spPr>
          <a:xfrm>
            <a:off x="384489" y="992744"/>
            <a:ext cx="7344816" cy="523220"/>
          </a:xfrm>
          <a:prstGeom prst="rect">
            <a:avLst/>
          </a:prstGeom>
        </p:spPr>
        <p:txBody>
          <a:bodyPr wrap="square">
            <a:spAutoFit/>
          </a:bodyPr>
          <a:lstStyle/>
          <a:p>
            <a:r>
              <a:rPr lang="id-ID" sz="2800" b="1" dirty="0"/>
              <a:t>Internet Dalam Jaringan Lokal</a:t>
            </a:r>
          </a:p>
        </p:txBody>
      </p:sp>
      <p:sp>
        <p:nvSpPr>
          <p:cNvPr id="7" name="Rectangle 6"/>
          <p:cNvSpPr/>
          <p:nvPr/>
        </p:nvSpPr>
        <p:spPr>
          <a:xfrm>
            <a:off x="4056897" y="1340872"/>
            <a:ext cx="4629903" cy="5124480"/>
          </a:xfrm>
          <a:prstGeom prst="rect">
            <a:avLst/>
          </a:prstGeom>
        </p:spPr>
        <p:txBody>
          <a:bodyPr wrap="square">
            <a:spAutoFit/>
          </a:bodyPr>
          <a:lstStyle/>
          <a:p>
            <a:pPr>
              <a:lnSpc>
                <a:spcPct val="150000"/>
              </a:lnSpc>
            </a:pPr>
            <a:r>
              <a:rPr lang="id-ID" sz="2000" b="1" dirty="0"/>
              <a:t>Menggunakan router</a:t>
            </a:r>
            <a:r>
              <a:rPr lang="id-ID" dirty="0"/>
              <a:t/>
            </a:r>
            <a:br>
              <a:rPr lang="id-ID" dirty="0"/>
            </a:br>
            <a:r>
              <a:rPr lang="id-ID" dirty="0"/>
              <a:t>kabel utp dihubungkan dari cable modem / ADSL ke router. Router dihubungkan ke hub atau langsung ke komputer client. Router memiliki DHCP yang akan memberikan IP addres dynamic ke setiap komputer client. Untuk akses dial up sedikit berbeda </a:t>
            </a:r>
            <a:r>
              <a:rPr lang="id-ID" dirty="0" smtClean="0"/>
              <a:t>internet </a:t>
            </a:r>
            <a:r>
              <a:rPr lang="id-ID" dirty="0"/>
              <a:t>yang disharing pada komputer server dihubungkan langsung ke port internet dengan menggunakan  ethernet card dan kabel UTP. Router dihubungkan ke hub dan langsung ke komputer  </a:t>
            </a:r>
            <a:r>
              <a:rPr lang="id-ID" dirty="0" smtClean="0"/>
              <a:t>client</a:t>
            </a:r>
            <a:r>
              <a:rPr lang="id-ID" dirty="0"/>
              <a:t>. </a:t>
            </a:r>
          </a:p>
        </p:txBody>
      </p:sp>
      <p:pic>
        <p:nvPicPr>
          <p:cNvPr id="8" name="Picture 7" descr="Screen Clippi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16537" y="1986698"/>
            <a:ext cx="2504862" cy="3832827"/>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33408" y="381000"/>
            <a:ext cx="1644598" cy="360040"/>
          </a:xfrm>
        </p:spPr>
        <p:txBody>
          <a:bodyPr>
            <a:normAutofit fontScale="90000"/>
          </a:bodyPr>
          <a:lstStyle/>
          <a:p>
            <a:r>
              <a:rPr lang="id-ID" dirty="0" smtClean="0"/>
              <a:t>Materi</a:t>
            </a:r>
            <a:endParaRPr lang="id-ID" dirty="0"/>
          </a:p>
        </p:txBody>
      </p:sp>
      <p:sp>
        <p:nvSpPr>
          <p:cNvPr id="5" name="Rectangle 4"/>
          <p:cNvSpPr/>
          <p:nvPr/>
        </p:nvSpPr>
        <p:spPr>
          <a:xfrm>
            <a:off x="395536" y="768336"/>
            <a:ext cx="3672408" cy="3835217"/>
          </a:xfrm>
          <a:prstGeom prst="rect">
            <a:avLst/>
          </a:prstGeom>
        </p:spPr>
        <p:txBody>
          <a:bodyPr wrap="square">
            <a:spAutoFit/>
          </a:bodyPr>
          <a:lstStyle/>
          <a:p>
            <a:pPr>
              <a:lnSpc>
                <a:spcPct val="150000"/>
              </a:lnSpc>
            </a:pPr>
            <a:r>
              <a:rPr lang="id-ID" sz="2000" b="1" u="sng" dirty="0" smtClean="0"/>
              <a:t>Dial-up</a:t>
            </a:r>
            <a:r>
              <a:rPr lang="id-ID" sz="2000" b="1" dirty="0" smtClean="0"/>
              <a:t> </a:t>
            </a:r>
            <a:r>
              <a:rPr lang="id-ID" dirty="0"/>
              <a:t/>
            </a:r>
            <a:br>
              <a:rPr lang="id-ID" dirty="0"/>
            </a:br>
            <a:r>
              <a:rPr lang="id-ID" dirty="0" smtClean="0"/>
              <a:t>Merupakan </a:t>
            </a:r>
            <a:r>
              <a:rPr lang="id-ID" dirty="0"/>
              <a:t>koneksi internet yang memanfaatkan jalur telpon (telpon rumah), dengan cara menghubungi nomopr telpon khusus agar bisa digunakan untuk berintenetan. Koneksi dial-up memang jauh lebih lambat dibandingkan dengan koneksi internet lainya</a:t>
            </a:r>
            <a:endParaRPr lang="id-ID" dirty="0">
              <a:effectLst/>
            </a:endParaRPr>
          </a:p>
        </p:txBody>
      </p:sp>
      <p:sp>
        <p:nvSpPr>
          <p:cNvPr id="6" name="Rectangle 5"/>
          <p:cNvSpPr/>
          <p:nvPr/>
        </p:nvSpPr>
        <p:spPr>
          <a:xfrm>
            <a:off x="4032448" y="624320"/>
            <a:ext cx="4806752" cy="5493812"/>
          </a:xfrm>
          <a:prstGeom prst="rect">
            <a:avLst/>
          </a:prstGeom>
        </p:spPr>
        <p:txBody>
          <a:bodyPr wrap="square">
            <a:spAutoFit/>
          </a:bodyPr>
          <a:lstStyle/>
          <a:p>
            <a:pPr>
              <a:lnSpc>
                <a:spcPct val="150000"/>
              </a:lnSpc>
            </a:pPr>
            <a:r>
              <a:rPr lang="id-ID" b="1" u="sng" dirty="0"/>
              <a:t>ADSL </a:t>
            </a:r>
            <a:r>
              <a:rPr lang="id-ID" u="sng" dirty="0"/>
              <a:t>( Asymmetric Digital Subscriber Line ) </a:t>
            </a:r>
            <a:r>
              <a:rPr lang="id-ID" dirty="0"/>
              <a:t/>
            </a:r>
            <a:br>
              <a:rPr lang="id-ID" dirty="0"/>
            </a:br>
            <a:r>
              <a:rPr lang="id-ID" dirty="0" smtClean="0"/>
              <a:t>merupakan </a:t>
            </a:r>
            <a:r>
              <a:rPr lang="id-ID" dirty="0"/>
              <a:t>koneksi internet broadband yang cepat dibandingkan dengan </a:t>
            </a:r>
            <a:r>
              <a:rPr lang="id-ID" dirty="0" smtClean="0"/>
              <a:t>koneksi.Teknologi </a:t>
            </a:r>
            <a:r>
              <a:rPr lang="id-ID" dirty="0"/>
              <a:t>ADSL Memberikan kecepatan transfer data yang berbeda antara proses pengiriman data ( upload ) dan penerimaan data ( download ),untuk meningkatkan keduanya maka digunakan istilah Asymmetric untuk teknologi ini ADSL Mampu mengirimkan data yang besar,yaitu sekitar 1,5 Mbps sampai 8 Mbps untuk downstream (dari sentral ke pelanggan) dan 16 Mbps sampai 640 Kbps untuk arah upstream (dari pelanggan ke sentral). </a:t>
            </a:r>
            <a:endParaRPr lang="id-ID" dirty="0">
              <a:effectLst/>
            </a:endParaRPr>
          </a:p>
        </p:txBody>
      </p:sp>
      <p:pic>
        <p:nvPicPr>
          <p:cNvPr id="7" name="Picture 6" descr="Screen Clippi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67206" y="4761222"/>
            <a:ext cx="2724674" cy="13457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ircle(in)">
                                      <p:cBhvr>
                                        <p:cTn id="18"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4963" y="539948"/>
            <a:ext cx="1644598" cy="360040"/>
          </a:xfrm>
        </p:spPr>
        <p:txBody>
          <a:bodyPr>
            <a:normAutofit fontScale="90000"/>
          </a:bodyPr>
          <a:lstStyle/>
          <a:p>
            <a:r>
              <a:rPr lang="id-ID" dirty="0" smtClean="0"/>
              <a:t>Materi</a:t>
            </a:r>
            <a:endParaRPr lang="id-ID" dirty="0"/>
          </a:p>
        </p:txBody>
      </p:sp>
      <p:sp>
        <p:nvSpPr>
          <p:cNvPr id="5" name="Rectangle 4"/>
          <p:cNvSpPr/>
          <p:nvPr/>
        </p:nvSpPr>
        <p:spPr>
          <a:xfrm>
            <a:off x="455083" y="1071300"/>
            <a:ext cx="7344816" cy="523220"/>
          </a:xfrm>
          <a:prstGeom prst="rect">
            <a:avLst/>
          </a:prstGeom>
        </p:spPr>
        <p:txBody>
          <a:bodyPr wrap="square">
            <a:spAutoFit/>
          </a:bodyPr>
          <a:lstStyle/>
          <a:p>
            <a:r>
              <a:rPr lang="id-ID" sz="2800" b="1" dirty="0"/>
              <a:t>Internet Dalam Jaringan Lokal</a:t>
            </a:r>
          </a:p>
        </p:txBody>
      </p:sp>
      <p:sp>
        <p:nvSpPr>
          <p:cNvPr id="6" name="TextBox 5"/>
          <p:cNvSpPr txBox="1"/>
          <p:nvPr/>
        </p:nvSpPr>
        <p:spPr>
          <a:xfrm>
            <a:off x="599099" y="1604680"/>
            <a:ext cx="6047910" cy="1338828"/>
          </a:xfrm>
          <a:prstGeom prst="rect">
            <a:avLst/>
          </a:prstGeom>
          <a:noFill/>
        </p:spPr>
        <p:txBody>
          <a:bodyPr wrap="square" rtlCol="0">
            <a:spAutoFit/>
          </a:bodyPr>
          <a:lstStyle/>
          <a:p>
            <a:pPr>
              <a:lnSpc>
                <a:spcPct val="150000"/>
              </a:lnSpc>
            </a:pPr>
            <a:r>
              <a:rPr lang="id-ID" dirty="0" smtClean="0"/>
              <a:t>Untuk mengatur agar internet dapat dapat diakses melalui jaringan lokal, maka diperlukan perangkat keras pendukung seperti :</a:t>
            </a:r>
          </a:p>
        </p:txBody>
      </p:sp>
      <p:sp>
        <p:nvSpPr>
          <p:cNvPr id="7" name="Rectangle 6"/>
          <p:cNvSpPr/>
          <p:nvPr/>
        </p:nvSpPr>
        <p:spPr>
          <a:xfrm>
            <a:off x="1260780" y="2943508"/>
            <a:ext cx="4761724" cy="1754326"/>
          </a:xfrm>
          <a:prstGeom prst="rect">
            <a:avLst/>
          </a:prstGeom>
        </p:spPr>
        <p:txBody>
          <a:bodyPr wrap="square">
            <a:spAutoFit/>
          </a:bodyPr>
          <a:lstStyle/>
          <a:p>
            <a:pPr>
              <a:lnSpc>
                <a:spcPct val="150000"/>
              </a:lnSpc>
            </a:pPr>
            <a:r>
              <a:rPr lang="id-ID" dirty="0"/>
              <a:t>Netork Inteface Card (NIC</a:t>
            </a:r>
            <a:r>
              <a:rPr lang="id-ID" dirty="0" smtClean="0"/>
              <a:t>), Antar muka(slot) untuk menghubungkan komputer dengan kabel jaringan, untuk jaringan wireless, dibutuhkan Wifi client adapter </a:t>
            </a:r>
            <a:endParaRPr lang="id-ID" dirty="0"/>
          </a:p>
        </p:txBody>
      </p:sp>
      <p:pic>
        <p:nvPicPr>
          <p:cNvPr id="8" name="Picture 7" descr="Screen Clippi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461074" y="4743708"/>
            <a:ext cx="2185935" cy="12887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D:\Patbhe\materi\gambar2\nic.jpg"/>
          <p:cNvPicPr>
            <a:picLocks noChangeAspect="1" noChangeArrowheads="1"/>
          </p:cNvPicPr>
          <p:nvPr/>
        </p:nvPicPr>
        <p:blipFill>
          <a:blip r:embed="rId3" cstate="print"/>
          <a:srcRect/>
          <a:stretch>
            <a:fillRect/>
          </a:stretch>
        </p:blipFill>
        <p:spPr bwMode="auto">
          <a:xfrm>
            <a:off x="6431747" y="2642702"/>
            <a:ext cx="1845810" cy="14542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Box 9"/>
          <p:cNvSpPr txBox="1"/>
          <p:nvPr/>
        </p:nvSpPr>
        <p:spPr>
          <a:xfrm>
            <a:off x="4221893" y="6183868"/>
            <a:ext cx="2664296" cy="369332"/>
          </a:xfrm>
          <a:prstGeom prst="rect">
            <a:avLst/>
          </a:prstGeom>
          <a:noFill/>
        </p:spPr>
        <p:txBody>
          <a:bodyPr wrap="square" rtlCol="0">
            <a:spAutoFit/>
          </a:bodyPr>
          <a:lstStyle/>
          <a:p>
            <a:pPr algn="ctr"/>
            <a:r>
              <a:rPr lang="id-ID" dirty="0" smtClean="0"/>
              <a:t>Contoh Wifi Adapter</a:t>
            </a:r>
            <a:endParaRPr lang="id-ID" dirty="0"/>
          </a:p>
        </p:txBody>
      </p:sp>
      <p:sp>
        <p:nvSpPr>
          <p:cNvPr id="11" name="TextBox 10"/>
          <p:cNvSpPr txBox="1"/>
          <p:nvPr/>
        </p:nvSpPr>
        <p:spPr>
          <a:xfrm>
            <a:off x="6022504" y="4205813"/>
            <a:ext cx="2664296" cy="369332"/>
          </a:xfrm>
          <a:prstGeom prst="rect">
            <a:avLst/>
          </a:prstGeom>
          <a:noFill/>
        </p:spPr>
        <p:txBody>
          <a:bodyPr wrap="square" rtlCol="0">
            <a:spAutoFit/>
          </a:bodyPr>
          <a:lstStyle/>
          <a:p>
            <a:pPr algn="ctr"/>
            <a:r>
              <a:rPr lang="id-ID" dirty="0" smtClean="0"/>
              <a:t>Contoh NIC</a:t>
            </a:r>
            <a:endParaRPr lang="id-ID"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ircle(in)">
                                      <p:cBhvr>
                                        <p:cTn id="18" dur="2000"/>
                                        <p:tgtEl>
                                          <p:spTgt spid="9"/>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circle(in)">
                                      <p:cBhvr>
                                        <p:cTn id="21" dur="2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circle(in)">
                                      <p:cBhvr>
                                        <p:cTn id="26" dur="2000"/>
                                        <p:tgtEl>
                                          <p:spTgt spid="8"/>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circle(in)">
                                      <p:cBhvr>
                                        <p:cTn id="29"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6808" y="392902"/>
            <a:ext cx="1644598" cy="360040"/>
          </a:xfrm>
        </p:spPr>
        <p:txBody>
          <a:bodyPr>
            <a:normAutofit fontScale="90000"/>
          </a:bodyPr>
          <a:lstStyle/>
          <a:p>
            <a:r>
              <a:rPr lang="id-ID" dirty="0" smtClean="0"/>
              <a:t>Materi</a:t>
            </a:r>
            <a:endParaRPr lang="id-ID" dirty="0"/>
          </a:p>
        </p:txBody>
      </p:sp>
      <p:sp>
        <p:nvSpPr>
          <p:cNvPr id="5" name="Rectangle 4"/>
          <p:cNvSpPr/>
          <p:nvPr/>
        </p:nvSpPr>
        <p:spPr>
          <a:xfrm>
            <a:off x="456928" y="924254"/>
            <a:ext cx="7344816" cy="523220"/>
          </a:xfrm>
          <a:prstGeom prst="rect">
            <a:avLst/>
          </a:prstGeom>
        </p:spPr>
        <p:txBody>
          <a:bodyPr wrap="square">
            <a:spAutoFit/>
          </a:bodyPr>
          <a:lstStyle/>
          <a:p>
            <a:r>
              <a:rPr lang="id-ID" sz="2800" b="1" dirty="0"/>
              <a:t>Internet Dalam Jaringan Lokal</a:t>
            </a:r>
          </a:p>
        </p:txBody>
      </p:sp>
      <p:sp>
        <p:nvSpPr>
          <p:cNvPr id="6" name="TextBox 5"/>
          <p:cNvSpPr txBox="1"/>
          <p:nvPr/>
        </p:nvSpPr>
        <p:spPr>
          <a:xfrm>
            <a:off x="575460" y="1472349"/>
            <a:ext cx="6264696" cy="1338828"/>
          </a:xfrm>
          <a:prstGeom prst="rect">
            <a:avLst/>
          </a:prstGeom>
          <a:noFill/>
        </p:spPr>
        <p:txBody>
          <a:bodyPr wrap="square" rtlCol="0">
            <a:spAutoFit/>
          </a:bodyPr>
          <a:lstStyle/>
          <a:p>
            <a:pPr>
              <a:lnSpc>
                <a:spcPct val="150000"/>
              </a:lnSpc>
            </a:pPr>
            <a:r>
              <a:rPr lang="id-ID" dirty="0" smtClean="0"/>
              <a:t>Untuk mengatur agar internet dapat dapat diakses melalui jaringan lokal, maka diperlukan perangkat keras pendukung seperti :</a:t>
            </a:r>
          </a:p>
        </p:txBody>
      </p:sp>
      <p:sp>
        <p:nvSpPr>
          <p:cNvPr id="7" name="Rectangle 6"/>
          <p:cNvSpPr/>
          <p:nvPr/>
        </p:nvSpPr>
        <p:spPr>
          <a:xfrm>
            <a:off x="1609056" y="2436422"/>
            <a:ext cx="5548473" cy="2169825"/>
          </a:xfrm>
          <a:prstGeom prst="rect">
            <a:avLst/>
          </a:prstGeom>
        </p:spPr>
        <p:txBody>
          <a:bodyPr wrap="square">
            <a:spAutoFit/>
          </a:bodyPr>
          <a:lstStyle/>
          <a:p>
            <a:pPr fontAlgn="auto">
              <a:lnSpc>
                <a:spcPct val="150000"/>
              </a:lnSpc>
              <a:spcBef>
                <a:spcPts val="0"/>
              </a:spcBef>
              <a:spcAft>
                <a:spcPts val="0"/>
              </a:spcAft>
              <a:defRPr/>
            </a:pPr>
            <a:r>
              <a:rPr lang="en-US" b="1" dirty="0"/>
              <a:t>Router </a:t>
            </a:r>
          </a:p>
          <a:p>
            <a:pPr marL="342900" indent="-3175" fontAlgn="auto">
              <a:lnSpc>
                <a:spcPct val="150000"/>
              </a:lnSpc>
              <a:spcBef>
                <a:spcPts val="0"/>
              </a:spcBef>
              <a:spcAft>
                <a:spcPts val="0"/>
              </a:spcAft>
              <a:defRPr/>
            </a:pPr>
            <a:r>
              <a:rPr lang="en-US" dirty="0" err="1"/>
              <a:t>Sebuah</a:t>
            </a:r>
            <a:r>
              <a:rPr lang="en-US" dirty="0"/>
              <a:t> </a:t>
            </a:r>
            <a:r>
              <a:rPr lang="en-US" dirty="0" err="1"/>
              <a:t>komputer</a:t>
            </a:r>
            <a:r>
              <a:rPr lang="en-US" dirty="0"/>
              <a:t> yang </a:t>
            </a:r>
            <a:r>
              <a:rPr lang="en-US" dirty="0" err="1"/>
              <a:t>mempunyai</a:t>
            </a:r>
            <a:r>
              <a:rPr lang="en-US" dirty="0"/>
              <a:t> </a:t>
            </a:r>
            <a:r>
              <a:rPr lang="en-US" dirty="0" err="1"/>
              <a:t>perangkat</a:t>
            </a:r>
            <a:r>
              <a:rPr lang="en-US" dirty="0"/>
              <a:t> </a:t>
            </a:r>
            <a:r>
              <a:rPr lang="en-US" dirty="0" err="1"/>
              <a:t>lunak</a:t>
            </a:r>
            <a:r>
              <a:rPr lang="en-US" dirty="0"/>
              <a:t> </a:t>
            </a:r>
            <a:r>
              <a:rPr lang="en-US" dirty="0" err="1"/>
              <a:t>dan</a:t>
            </a:r>
            <a:r>
              <a:rPr lang="en-US" dirty="0"/>
              <a:t> </a:t>
            </a:r>
            <a:r>
              <a:rPr lang="en-US" dirty="0" err="1"/>
              <a:t>perangkat</a:t>
            </a:r>
            <a:r>
              <a:rPr lang="en-US" dirty="0"/>
              <a:t> </a:t>
            </a:r>
            <a:r>
              <a:rPr lang="en-US" dirty="0" err="1"/>
              <a:t>keras</a:t>
            </a:r>
            <a:r>
              <a:rPr lang="en-US" dirty="0"/>
              <a:t> yang </a:t>
            </a:r>
            <a:r>
              <a:rPr lang="en-US" dirty="0" err="1"/>
              <a:t>khusus</a:t>
            </a:r>
            <a:r>
              <a:rPr lang="en-US" dirty="0"/>
              <a:t> </a:t>
            </a:r>
            <a:r>
              <a:rPr lang="en-US" dirty="0" err="1"/>
              <a:t>untuk</a:t>
            </a:r>
            <a:r>
              <a:rPr lang="en-US" dirty="0"/>
              <a:t> </a:t>
            </a:r>
            <a:r>
              <a:rPr lang="en-US" dirty="0" err="1"/>
              <a:t>keperluan</a:t>
            </a:r>
            <a:r>
              <a:rPr lang="en-US" dirty="0"/>
              <a:t> routing </a:t>
            </a:r>
            <a:r>
              <a:rPr lang="en-US" dirty="0" err="1"/>
              <a:t>dan</a:t>
            </a:r>
            <a:r>
              <a:rPr lang="en-US" dirty="0"/>
              <a:t> </a:t>
            </a:r>
            <a:r>
              <a:rPr lang="en-US" dirty="0" err="1"/>
              <a:t>penyampaian</a:t>
            </a:r>
            <a:r>
              <a:rPr lang="en-US" dirty="0"/>
              <a:t> </a:t>
            </a:r>
            <a:r>
              <a:rPr lang="en-US" dirty="0" err="1"/>
              <a:t>paket</a:t>
            </a:r>
            <a:r>
              <a:rPr lang="en-US" dirty="0"/>
              <a:t> di </a:t>
            </a:r>
            <a:r>
              <a:rPr lang="en-US" dirty="0" err="1"/>
              <a:t>jaringan</a:t>
            </a:r>
            <a:r>
              <a:rPr lang="en-US" dirty="0"/>
              <a:t> </a:t>
            </a:r>
            <a:r>
              <a:rPr lang="en-US" dirty="0" err="1" smtClean="0"/>
              <a:t>komputer</a:t>
            </a:r>
            <a:endParaRPr lang="en-US" dirty="0"/>
          </a:p>
        </p:txBody>
      </p:sp>
      <p:sp>
        <p:nvSpPr>
          <p:cNvPr id="8" name="TextBox 7"/>
          <p:cNvSpPr txBox="1"/>
          <p:nvPr/>
        </p:nvSpPr>
        <p:spPr>
          <a:xfrm>
            <a:off x="960984" y="4812686"/>
            <a:ext cx="4752528" cy="1338828"/>
          </a:xfrm>
          <a:prstGeom prst="rect">
            <a:avLst/>
          </a:prstGeom>
          <a:noFill/>
        </p:spPr>
        <p:txBody>
          <a:bodyPr wrap="square" rtlCol="0">
            <a:spAutoFit/>
          </a:bodyPr>
          <a:lstStyle/>
          <a:p>
            <a:pPr>
              <a:lnSpc>
                <a:spcPct val="150000"/>
              </a:lnSpc>
            </a:pPr>
            <a:r>
              <a:rPr lang="id-ID" dirty="0" smtClean="0"/>
              <a:t>Beberapa modem atau access point yang dijual di pasaran sudah dilengkapi dengan fasilitas router</a:t>
            </a:r>
            <a:endParaRPr lang="id-ID" dirty="0"/>
          </a:p>
        </p:txBody>
      </p:sp>
      <p:pic>
        <p:nvPicPr>
          <p:cNvPr id="9" name="Picture 8" descr="Screen Clippi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361584" y="4376501"/>
            <a:ext cx="1944216" cy="17956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circle(in)">
                                      <p:cBhvr>
                                        <p:cTn id="24"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39810" y="698192"/>
            <a:ext cx="1644598" cy="360040"/>
          </a:xfrm>
        </p:spPr>
        <p:txBody>
          <a:bodyPr>
            <a:normAutofit fontScale="90000"/>
          </a:bodyPr>
          <a:lstStyle/>
          <a:p>
            <a:r>
              <a:rPr lang="id-ID" dirty="0" smtClean="0"/>
              <a:t>Materi</a:t>
            </a:r>
            <a:endParaRPr lang="id-ID" dirty="0"/>
          </a:p>
        </p:txBody>
      </p:sp>
      <p:sp>
        <p:nvSpPr>
          <p:cNvPr id="5" name="Rectangle 4"/>
          <p:cNvSpPr/>
          <p:nvPr/>
        </p:nvSpPr>
        <p:spPr>
          <a:xfrm>
            <a:off x="429930" y="1229544"/>
            <a:ext cx="7344816" cy="523220"/>
          </a:xfrm>
          <a:prstGeom prst="rect">
            <a:avLst/>
          </a:prstGeom>
        </p:spPr>
        <p:txBody>
          <a:bodyPr wrap="square">
            <a:spAutoFit/>
          </a:bodyPr>
          <a:lstStyle/>
          <a:p>
            <a:r>
              <a:rPr lang="id-ID" sz="2800" b="1" dirty="0"/>
              <a:t>Internet Dalam Jaringan Lokal</a:t>
            </a:r>
          </a:p>
        </p:txBody>
      </p:sp>
      <p:sp>
        <p:nvSpPr>
          <p:cNvPr id="6" name="TextBox 5"/>
          <p:cNvSpPr txBox="1"/>
          <p:nvPr/>
        </p:nvSpPr>
        <p:spPr>
          <a:xfrm>
            <a:off x="573946" y="1877616"/>
            <a:ext cx="4968552" cy="1338828"/>
          </a:xfrm>
          <a:prstGeom prst="rect">
            <a:avLst/>
          </a:prstGeom>
          <a:noFill/>
        </p:spPr>
        <p:txBody>
          <a:bodyPr wrap="square" rtlCol="0">
            <a:spAutoFit/>
          </a:bodyPr>
          <a:lstStyle/>
          <a:p>
            <a:pPr>
              <a:lnSpc>
                <a:spcPct val="150000"/>
              </a:lnSpc>
            </a:pPr>
            <a:r>
              <a:rPr lang="id-ID" dirty="0" smtClean="0"/>
              <a:t>Untuk mengatur agar internet dapat dapat diakses melalui jaringan lokal, maka diperlukan perangkat keras pendukung seperti :</a:t>
            </a:r>
          </a:p>
        </p:txBody>
      </p:sp>
      <p:sp>
        <p:nvSpPr>
          <p:cNvPr id="7" name="Rectangle 6"/>
          <p:cNvSpPr/>
          <p:nvPr/>
        </p:nvSpPr>
        <p:spPr>
          <a:xfrm>
            <a:off x="861978" y="3533800"/>
            <a:ext cx="4572000" cy="1338828"/>
          </a:xfrm>
          <a:prstGeom prst="rect">
            <a:avLst/>
          </a:prstGeom>
        </p:spPr>
        <p:txBody>
          <a:bodyPr>
            <a:spAutoFit/>
          </a:bodyPr>
          <a:lstStyle/>
          <a:p>
            <a:pPr fontAlgn="auto">
              <a:lnSpc>
                <a:spcPct val="150000"/>
              </a:lnSpc>
              <a:spcBef>
                <a:spcPts val="0"/>
              </a:spcBef>
              <a:spcAft>
                <a:spcPts val="0"/>
              </a:spcAft>
              <a:defRPr/>
            </a:pPr>
            <a:r>
              <a:rPr lang="en-US" dirty="0" smtClean="0"/>
              <a:t>Hub </a:t>
            </a:r>
            <a:r>
              <a:rPr lang="en-US" dirty="0" err="1"/>
              <a:t>atau</a:t>
            </a:r>
            <a:r>
              <a:rPr lang="en-US" dirty="0"/>
              <a:t> Switching</a:t>
            </a:r>
          </a:p>
          <a:p>
            <a:pPr marL="342900" indent="-3175" fontAlgn="auto">
              <a:lnSpc>
                <a:spcPct val="150000"/>
              </a:lnSpc>
              <a:spcBef>
                <a:spcPts val="0"/>
              </a:spcBef>
              <a:spcAft>
                <a:spcPts val="0"/>
              </a:spcAft>
              <a:defRPr/>
            </a:pPr>
            <a:r>
              <a:rPr lang="en-US" dirty="0" err="1"/>
              <a:t>Berguna</a:t>
            </a:r>
            <a:r>
              <a:rPr lang="en-US" dirty="0"/>
              <a:t> </a:t>
            </a:r>
            <a:r>
              <a:rPr lang="en-US" dirty="0" err="1"/>
              <a:t>untuk</a:t>
            </a:r>
            <a:r>
              <a:rPr lang="en-US" dirty="0"/>
              <a:t> </a:t>
            </a:r>
            <a:r>
              <a:rPr lang="en-US" dirty="0" err="1"/>
              <a:t>menghubungkan</a:t>
            </a:r>
            <a:r>
              <a:rPr lang="en-US" dirty="0"/>
              <a:t> </a:t>
            </a:r>
            <a:r>
              <a:rPr lang="en-US" dirty="0" err="1"/>
              <a:t>dua</a:t>
            </a:r>
            <a:r>
              <a:rPr lang="en-US" dirty="0"/>
              <a:t> </a:t>
            </a:r>
            <a:r>
              <a:rPr lang="en-US" dirty="0" err="1"/>
              <a:t>komputer</a:t>
            </a:r>
            <a:r>
              <a:rPr lang="en-US" dirty="0"/>
              <a:t> </a:t>
            </a:r>
            <a:r>
              <a:rPr lang="en-US" dirty="0" err="1"/>
              <a:t>atau</a:t>
            </a:r>
            <a:r>
              <a:rPr lang="en-US" dirty="0"/>
              <a:t> </a:t>
            </a:r>
            <a:r>
              <a:rPr lang="en-US" dirty="0" err="1"/>
              <a:t>lebih</a:t>
            </a:r>
            <a:r>
              <a:rPr lang="en-US" dirty="0" smtClean="0"/>
              <a:t>.</a:t>
            </a:r>
            <a:r>
              <a:rPr lang="id-ID" dirty="0" smtClean="0"/>
              <a:t> Melalui kabel</a:t>
            </a:r>
            <a:endParaRPr lang="en-US" dirty="0"/>
          </a:p>
        </p:txBody>
      </p:sp>
      <p:pic>
        <p:nvPicPr>
          <p:cNvPr id="8" name="Picture 7" descr="Screen Clippi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305843" y="3317776"/>
            <a:ext cx="2695157" cy="2016224"/>
          </a:xfrm>
          <a:prstGeom prst="roundRect">
            <a:avLst>
              <a:gd name="adj" fmla="val 16251"/>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457200"/>
            <a:ext cx="7772400" cy="923330"/>
          </a:xfrm>
          <a:prstGeom prst="rect">
            <a:avLst/>
          </a:prstGeom>
          <a:noFill/>
        </p:spPr>
        <p:txBody>
          <a:bodyPr wrap="square">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r>
              <a:rPr lang="en-US" sz="5400" b="1" dirty="0" err="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Referensi</a:t>
            </a:r>
            <a:endParaRPr lang="en-US" sz="54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sp>
        <p:nvSpPr>
          <p:cNvPr id="5" name="TextBox 4"/>
          <p:cNvSpPr txBox="1">
            <a:spLocks noChangeArrowheads="1"/>
          </p:cNvSpPr>
          <p:nvPr/>
        </p:nvSpPr>
        <p:spPr bwMode="auto">
          <a:xfrm>
            <a:off x="838200" y="1600200"/>
            <a:ext cx="7547775" cy="4462760"/>
          </a:xfrm>
          <a:prstGeom prst="rect">
            <a:avLst/>
          </a:prstGeom>
          <a:noFill/>
          <a:ln w="9525">
            <a:noFill/>
            <a:miter lim="800000"/>
            <a:headEnd/>
            <a:tailEnd/>
          </a:ln>
        </p:spPr>
        <p:txBody>
          <a:bodyPr wrap="square">
            <a:spAutoFit/>
          </a:bodyPr>
          <a:lstStyle/>
          <a:p>
            <a:pPr marL="342900" indent="-342900">
              <a:buFontTx/>
              <a:buAutoNum type="arabicPeriod"/>
            </a:pPr>
            <a:r>
              <a:rPr lang="en-US" sz="2400" dirty="0" err="1"/>
              <a:t>Buku</a:t>
            </a:r>
            <a:r>
              <a:rPr lang="en-US" sz="2400" dirty="0"/>
              <a:t> </a:t>
            </a:r>
            <a:r>
              <a:rPr lang="en-US" sz="2400" dirty="0" err="1"/>
              <a:t>Teknologi</a:t>
            </a:r>
            <a:r>
              <a:rPr lang="en-US" sz="2400" dirty="0"/>
              <a:t> </a:t>
            </a:r>
            <a:r>
              <a:rPr lang="en-US" sz="2400" dirty="0" err="1"/>
              <a:t>Informasi</a:t>
            </a:r>
            <a:r>
              <a:rPr lang="en-US" sz="2400" dirty="0"/>
              <a:t> Dan </a:t>
            </a:r>
            <a:r>
              <a:rPr lang="en-US" sz="2400" dirty="0" err="1"/>
              <a:t>Komunikasi</a:t>
            </a:r>
            <a:r>
              <a:rPr lang="en-US" sz="2400" dirty="0"/>
              <a:t> SMA </a:t>
            </a:r>
            <a:r>
              <a:rPr lang="en-US" sz="2400" dirty="0" err="1"/>
              <a:t>Kelas</a:t>
            </a:r>
            <a:r>
              <a:rPr lang="en-US" sz="2400" dirty="0"/>
              <a:t> XI, </a:t>
            </a:r>
            <a:r>
              <a:rPr lang="en-US" sz="2400" dirty="0" err="1"/>
              <a:t>Sadiman</a:t>
            </a:r>
            <a:r>
              <a:rPr lang="en-US" sz="2400" dirty="0"/>
              <a:t>, </a:t>
            </a:r>
            <a:r>
              <a:rPr lang="en-US" sz="2400" dirty="0" err="1"/>
              <a:t>Erlangga</a:t>
            </a:r>
            <a:endParaRPr lang="en-US" sz="2400" dirty="0"/>
          </a:p>
          <a:p>
            <a:pPr marL="342900" indent="-342900"/>
            <a:endParaRPr lang="en-US" sz="2400" dirty="0"/>
          </a:p>
          <a:p>
            <a:pPr marL="342900" indent="-342900">
              <a:buFontTx/>
              <a:buAutoNum type="arabicPeriod" startAt="2"/>
            </a:pPr>
            <a:r>
              <a:rPr lang="en-US" sz="2400" dirty="0" err="1"/>
              <a:t>Buku</a:t>
            </a:r>
            <a:r>
              <a:rPr lang="en-US" sz="2400" dirty="0"/>
              <a:t> </a:t>
            </a:r>
            <a:r>
              <a:rPr lang="en-US" sz="2400" dirty="0" err="1"/>
              <a:t>Teknologi</a:t>
            </a:r>
            <a:r>
              <a:rPr lang="en-US" sz="2400" dirty="0"/>
              <a:t> </a:t>
            </a:r>
            <a:r>
              <a:rPr lang="en-US" sz="2400" dirty="0" err="1"/>
              <a:t>Informasi</a:t>
            </a:r>
            <a:r>
              <a:rPr lang="en-US" sz="2400" dirty="0"/>
              <a:t> Dan </a:t>
            </a:r>
            <a:r>
              <a:rPr lang="en-US" sz="2400" dirty="0" err="1"/>
              <a:t>Komunikasi</a:t>
            </a:r>
            <a:r>
              <a:rPr lang="en-US" sz="2400" dirty="0"/>
              <a:t> SMA </a:t>
            </a:r>
            <a:r>
              <a:rPr lang="en-US" sz="2400" dirty="0" err="1"/>
              <a:t>Kelas</a:t>
            </a:r>
            <a:r>
              <a:rPr lang="en-US" sz="2400" dirty="0"/>
              <a:t> </a:t>
            </a:r>
            <a:r>
              <a:rPr lang="en-US" sz="2400" dirty="0" smtClean="0"/>
              <a:t>X,  </a:t>
            </a:r>
            <a:r>
              <a:rPr lang="en-US" sz="2400" dirty="0" err="1"/>
              <a:t>D</a:t>
            </a:r>
            <a:r>
              <a:rPr lang="en-US" sz="2400" dirty="0" err="1" smtClean="0"/>
              <a:t>esak</a:t>
            </a:r>
            <a:r>
              <a:rPr lang="en-US" sz="2400" dirty="0" smtClean="0"/>
              <a:t> </a:t>
            </a:r>
            <a:r>
              <a:rPr lang="en-US" sz="2400" dirty="0" err="1" smtClean="0"/>
              <a:t>Ketut</a:t>
            </a:r>
            <a:r>
              <a:rPr lang="en-US" sz="2400" dirty="0" smtClean="0"/>
              <a:t> Tri </a:t>
            </a:r>
            <a:r>
              <a:rPr lang="en-US" sz="2400" dirty="0" err="1" smtClean="0"/>
              <a:t>Wahyuni</a:t>
            </a:r>
            <a:r>
              <a:rPr lang="en-US" sz="2400" dirty="0" smtClean="0"/>
              <a:t>, </a:t>
            </a:r>
            <a:r>
              <a:rPr lang="en-US" sz="2400" dirty="0" err="1" smtClean="0"/>
              <a:t>S.Kom</a:t>
            </a:r>
            <a:r>
              <a:rPr lang="en-US" sz="2400" dirty="0" smtClean="0"/>
              <a:t> </a:t>
            </a:r>
            <a:r>
              <a:rPr lang="en-US" sz="2400" dirty="0" err="1" smtClean="0"/>
              <a:t>dkk</a:t>
            </a:r>
            <a:r>
              <a:rPr lang="en-US" sz="2400" dirty="0"/>
              <a:t>, </a:t>
            </a:r>
            <a:r>
              <a:rPr lang="en-US" sz="2400" dirty="0" err="1" smtClean="0"/>
              <a:t>Gapura</a:t>
            </a:r>
            <a:r>
              <a:rPr lang="en-US" sz="2400" dirty="0" smtClean="0"/>
              <a:t> 2011</a:t>
            </a:r>
          </a:p>
          <a:p>
            <a:pPr marL="342900" indent="-342900">
              <a:buFontTx/>
              <a:buAutoNum type="arabicPeriod" startAt="2"/>
            </a:pPr>
            <a:endParaRPr lang="en-US" sz="2400" dirty="0" smtClean="0"/>
          </a:p>
          <a:p>
            <a:pPr marL="342900" indent="-342900">
              <a:buFontTx/>
              <a:buAutoNum type="arabicPeriod" startAt="2"/>
            </a:pPr>
            <a:r>
              <a:rPr lang="en-US" sz="2000" dirty="0" smtClean="0"/>
              <a:t>http://www.psb-psma.org/bahanajar/presentasi/tik</a:t>
            </a:r>
          </a:p>
          <a:p>
            <a:pPr marL="342900" indent="-342900">
              <a:buFontTx/>
              <a:buAutoNum type="arabicPeriod" startAt="2"/>
            </a:pPr>
            <a:endParaRPr lang="en-US" sz="2000" dirty="0"/>
          </a:p>
          <a:p>
            <a:pPr marL="342900" indent="-342900">
              <a:buFontTx/>
              <a:buAutoNum type="arabicPeriod" startAt="2"/>
            </a:pPr>
            <a:endParaRPr lang="en-US" sz="2000" dirty="0"/>
          </a:p>
          <a:p>
            <a:pPr marL="342900" indent="-342900">
              <a:buFontTx/>
              <a:buAutoNum type="arabicPeriod" startAt="2"/>
            </a:pPr>
            <a:endParaRPr lang="en-US" sz="2000" dirty="0"/>
          </a:p>
          <a:p>
            <a:pPr marL="342900" indent="-342900">
              <a:buFontTx/>
              <a:buAutoNum type="arabicPeriod" startAt="2"/>
            </a:pPr>
            <a:endParaRPr lang="en-US" dirty="0"/>
          </a:p>
          <a:p>
            <a:pPr marL="342900" indent="-342900">
              <a:buFontTx/>
              <a:buAutoNum type="arabicPeriod"/>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09800" y="2438400"/>
            <a:ext cx="6048672" cy="1477328"/>
          </a:xfrm>
          <a:prstGeom prst="rect">
            <a:avLst/>
          </a:prstGeom>
          <a:noFill/>
        </p:spPr>
        <p:txBody>
          <a:bodyPr wrap="square" rtlCol="0">
            <a:spAutoFit/>
          </a:bodyPr>
          <a:lstStyle/>
          <a:p>
            <a:r>
              <a:rPr lang="id-ID" dirty="0" smtClean="0"/>
              <a:t>Nama 		: </a:t>
            </a:r>
            <a:r>
              <a:rPr lang="en-US" dirty="0" smtClean="0"/>
              <a:t>I </a:t>
            </a:r>
            <a:r>
              <a:rPr lang="en-US" dirty="0" err="1" smtClean="0"/>
              <a:t>Nyoman</a:t>
            </a:r>
            <a:r>
              <a:rPr lang="en-US" dirty="0" smtClean="0"/>
              <a:t> </a:t>
            </a:r>
            <a:r>
              <a:rPr lang="en-US" dirty="0" err="1" smtClean="0"/>
              <a:t>Artha</a:t>
            </a:r>
            <a:r>
              <a:rPr lang="en-US" dirty="0" smtClean="0"/>
              <a:t> </a:t>
            </a:r>
            <a:r>
              <a:rPr lang="en-US" dirty="0" err="1" smtClean="0"/>
              <a:t>Udiana</a:t>
            </a:r>
            <a:r>
              <a:rPr lang="id-ID" dirty="0" smtClean="0"/>
              <a:t>, S.Kom</a:t>
            </a:r>
          </a:p>
          <a:p>
            <a:endParaRPr lang="id-ID" dirty="0" smtClean="0"/>
          </a:p>
          <a:p>
            <a:r>
              <a:rPr lang="en-US" dirty="0" err="1" smtClean="0"/>
              <a:t>Sekolah</a:t>
            </a:r>
            <a:r>
              <a:rPr lang="en-US" dirty="0" smtClean="0"/>
              <a:t>	</a:t>
            </a:r>
            <a:r>
              <a:rPr lang="id-ID" dirty="0" smtClean="0"/>
              <a:t>	: SMA </a:t>
            </a:r>
            <a:r>
              <a:rPr lang="en-US" dirty="0" smtClean="0"/>
              <a:t>N 1 </a:t>
            </a:r>
            <a:r>
              <a:rPr lang="en-US" dirty="0" err="1" smtClean="0"/>
              <a:t>Tampaksiring</a:t>
            </a:r>
            <a:endParaRPr lang="id-ID" dirty="0" smtClean="0"/>
          </a:p>
          <a:p>
            <a:endParaRPr lang="id-ID" dirty="0"/>
          </a:p>
          <a:p>
            <a:r>
              <a:rPr lang="id-ID" dirty="0" smtClean="0"/>
              <a:t>Email		: </a:t>
            </a:r>
            <a:r>
              <a:rPr lang="en-US" dirty="0" err="1" smtClean="0"/>
              <a:t>conectaru</a:t>
            </a:r>
            <a:r>
              <a:rPr lang="id-ID" dirty="0" smtClean="0"/>
              <a:t>@yahoo.co</a:t>
            </a:r>
            <a:r>
              <a:rPr lang="en-US" dirty="0" smtClean="0"/>
              <a:t>.id</a:t>
            </a:r>
            <a:endParaRPr lang="id-ID" dirty="0"/>
          </a:p>
        </p:txBody>
      </p:sp>
      <p:sp>
        <p:nvSpPr>
          <p:cNvPr id="8" name="Title 1"/>
          <p:cNvSpPr>
            <a:spLocks noGrp="1"/>
          </p:cNvSpPr>
          <p:nvPr>
            <p:ph type="title"/>
          </p:nvPr>
        </p:nvSpPr>
        <p:spPr>
          <a:xfrm>
            <a:off x="333408" y="404664"/>
            <a:ext cx="2866992" cy="738336"/>
          </a:xfrm>
        </p:spPr>
        <p:txBody>
          <a:bodyPr>
            <a:normAutofit/>
          </a:bodyPr>
          <a:lstStyle/>
          <a:p>
            <a:r>
              <a:rPr smtClean="0"/>
              <a:t>Penyusun</a:t>
            </a:r>
            <a:endParaRPr lang="id-ID"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219200" y="1905000"/>
            <a:ext cx="6781800" cy="2514600"/>
          </a:xfrm>
        </p:spPr>
        <p:txBody>
          <a:bodyPr anchor="ctr">
            <a:normAutofit/>
          </a:bodyPr>
          <a:lstStyle/>
          <a:p>
            <a:pPr algn="ctr"/>
            <a:r>
              <a:rPr lang="id-ID" sz="8000" b="1" dirty="0" smtClean="0"/>
              <a:t>Terima kasih</a:t>
            </a:r>
            <a:endParaRPr lang="id-ID" sz="8000" b="1"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47</TotalTime>
  <Words>642</Words>
  <Application>Microsoft Office PowerPoint</Application>
  <PresentationFormat>On-screen Show (4:3)</PresentationFormat>
  <Paragraphs>98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Paper</vt:lpstr>
      <vt:lpstr>Slide 1</vt:lpstr>
      <vt:lpstr>Standar kompetensi &amp; Kompetensi dasar</vt:lpstr>
      <vt:lpstr>indikator</vt:lpstr>
      <vt:lpstr>Materi</vt:lpstr>
      <vt:lpstr>Materi</vt:lpstr>
      <vt:lpstr>Materi</vt:lpstr>
      <vt:lpstr>Materi</vt:lpstr>
      <vt:lpstr>Materi</vt:lpstr>
      <vt:lpstr>Materi</vt:lpstr>
      <vt:lpstr>Materi</vt:lpstr>
      <vt:lpstr>Materi</vt:lpstr>
      <vt:lpstr>Materi</vt:lpstr>
      <vt:lpstr>Materi</vt:lpstr>
      <vt:lpstr>Materi</vt:lpstr>
      <vt:lpstr>Materi</vt:lpstr>
      <vt:lpstr>Materi</vt:lpstr>
      <vt:lpstr>Materi</vt:lpstr>
      <vt:lpstr>Slide 18</vt:lpstr>
      <vt:lpstr>Penyusun</vt:lpstr>
      <vt:lpstr>Terima kasih</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Artha</dc:creator>
  <cp:lastModifiedBy>chalid</cp:lastModifiedBy>
  <cp:revision>8</cp:revision>
  <dcterms:created xsi:type="dcterms:W3CDTF">2011-08-21T01:37:19Z</dcterms:created>
  <dcterms:modified xsi:type="dcterms:W3CDTF">2014-01-15T18:27:55Z</dcterms:modified>
</cp:coreProperties>
</file>